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822ad161-a6aa-2049-2b86-fdef5275533a}">
          <p14:sldIdLst>
            <p14:sldId id="256"/>
          </p14:sldIdLst>
        </p14:section>
        <p14:section name="Problem" id="{392bc8bd-b9a5-3167-f70b-44b0bf23b18d}">
          <p14:sldIdLst>
            <p14:sldId id="257"/>
            <p14:sldId id="258"/>
            <p14:sldId id="259"/>
            <p14:sldId id="260"/>
          </p14:sldIdLst>
        </p14:section>
        <p14:section name="Rozwiązanie" id="{89002b61-2c26-55b0-303f-b35c865ef58d}">
          <p14:sldIdLst>
            <p14:sldId id="261"/>
            <p14:sldId id="262"/>
            <p14:sldId id="263"/>
            <p14:sldId id="264"/>
          </p14:sldIdLst>
        </p14:section>
        <p14:section name="Technologia" id="{29511b90-b9a5-4031-24c1-77e39bf7a4ae}">
          <p14:sldIdLst>
            <p14:sldId id="265"/>
            <p14:sldId id="266"/>
            <p14:sldId id="267"/>
            <p14:sldId id="268"/>
          </p14:sldIdLst>
        </p14:section>
        <p14:section name="Zakończenie" id="{742a0139-a02f-71ff-4a57-4748896eb96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E6C7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E6C72"/>
                </a:solidFill>
                <a:latin typeface="+mn-lt"/>
              </a:rPr>
              <a:t>Udział osób w wieku poprodukcyjnym, % mieszkańców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Wiek poprodukcyjny</c:v>
                </c:pt>
              </c:strCache>
            </c:strRef>
          </c:tx>
          <c:spPr>
            <a:solidFill>
              <a:srgbClr val="007A5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0F1416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2030</c:v>
                  </c:pt>
                  <c:pt idx="2">
                    <c:v>2040</c:v>
                  </c:pt>
                  <c:pt idx="3">
                    <c:v>2050</c:v>
                  </c:pt>
                  <c:pt idx="4">
                    <c:v>2060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22.9</c:v>
                </c:pt>
                <c:pt idx="2">
                  <c:v>26.3</c:v>
                </c:pt>
                <c:pt idx="3">
                  <c:v>31.1</c:v>
                </c:pt>
                <c:pt idx="4">
                  <c:v>33.6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0F1416"/>
                  </a:solidFill>
                  <a:latin typeface="+mn-l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6C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E6C7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E6C72"/>
                </a:solidFill>
                <a:latin typeface="+mn-lt"/>
              </a:rPr>
              <a:t>Regularnie korzysta z internetu, % osób w danym wieku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Regularnie korzysta z internetu</c:v>
                </c:pt>
              </c:strCache>
            </c:strRef>
          </c:tx>
          <c:spPr>
            <a:solidFill>
              <a:srgbClr val="C9D8D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0F1416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D8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D8D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D8D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8D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8D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7A5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16–24</c:v>
                  </c:pt>
                  <c:pt idx="1">
                    <c:v>25–34</c:v>
                  </c:pt>
                  <c:pt idx="2">
                    <c:v>35–44</c:v>
                  </c:pt>
                  <c:pt idx="3">
                    <c:v>45–54</c:v>
                  </c:pt>
                  <c:pt idx="4">
                    <c:v>55–64</c:v>
                  </c:pt>
                  <c:pt idx="5">
                    <c:v>65–74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99.5</c:v>
                </c:pt>
                <c:pt idx="1">
                  <c:v>98.1</c:v>
                </c:pt>
                <c:pt idx="2">
                  <c:v>97.3</c:v>
                </c:pt>
                <c:pt idx="3">
                  <c:v>94.4</c:v>
                </c:pt>
                <c:pt idx="4">
                  <c:v>82.5</c:v>
                </c:pt>
                <c:pt idx="5">
                  <c:v>56.8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500" u="none">
                  <a:solidFill>
                    <a:srgbClr val="0F1416"/>
                  </a:solidFill>
                  <a:latin typeface="+mn-l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6C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E6C7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E6C72"/>
                </a:solidFill>
                <a:latin typeface="+mn-lt"/>
              </a:rPr>
              <a:t>Czuje się osamotnionych bardzo często lub zawsze, % dorosłych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Bardzo często lub zawsze</c:v>
                </c:pt>
              </c:strCache>
            </c:strRef>
          </c:tx>
          <c:spPr>
            <a:solidFill>
              <a:srgbClr val="C9D8D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0F1416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D8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7A5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2017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2000" u="none">
                  <a:solidFill>
                    <a:srgbClr val="0F1416"/>
                  </a:solidFill>
                  <a:latin typeface="+mn-l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E6C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Gminy często tworzą od zera rozwiązania, które gdzie indziej już działają. Podaj Dalej zbiera sprawdzone innowacje społeczne z Małopolski i pomaga je przenieść do kolejnych gmin. Z platformy korzysta pięć grup odbiorców z karty ROPS — i każda widzi ją trochę inaczej.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Dziś co piąty mieszkaniec Małopolski jest w wieku poprodukcyjnym, w 2060 roku będzie to co trzeci. Liczba osób po osiemdziesiątce wzrośnie o prawie ćwierć miliona. To oznacza więcej osób, które potrzebują opieki, transportu i wsparcia blisko domu — a gminy muszą na to odpowiedzieć już teraz.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Wśród najmłodszych z internetu korzysta prawie każdy, wśród osób 65–74 tylko 57 procent. A podstawowe umiejętności cyfrowe ma zaledwie 14 procent seniorów. Dlatego rozwiązania dla nich muszą działać także poza internetem — i dlatego nasza aplikacja ma obsługę głosem, powiększanie tekstu i prosty język.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 2017 roku stale samotnych było 4 procent dorosłych, dziś 8 procent — dwa razy więcej. Prawie połowa dorosłych przynajmniej czasem czuje się osamotniona. Samotność szkodzi zdrowiu, a najlepiej działają na nią rozwiązania blisko ludzi: sąsiedzkie, lokalne — takie, jakie zbieramy w bibliotece.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 Małopolsce są 183 gminy i wszystkie mierzą się z tymi samymi wyzwaniami: starzeniem, samotnością, wykluczeniem cyfrowym. ROPS ma sprawdzone rozwiązania — z 60 projektów inkubatora 9 wybrano do powszechnego zastosowania — ale wiedza o nich leży w raportach. Gmina, która ma problem, zwykle o nich nie wie i zaczyna od zera.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Podaj Dalej łączy te dwa światy. Mieszkaniec zgłasza problem — także głosem, bo wielu seniorów nie pisze sprawnie. Asystent AI szuka w bibliotece ROPS innowacji, które rozwiązały podobny problem gdzie indziej. Gmina dostosowuje wybrane rozwiązanie do swoich warunków i testuje je z mieszkańcami. Całość spełnia WCAG 2.1 AA: duży tekst, przycisk A+, prosty język.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Mieszkaniec zgłasza problem i testuje innowacje — to moduły Matchmaking i Tester. Organizacja wnosi własne rozwiązanie przez Kreatora z AI i przygotowuje wniosek o grant. Samorząd szuka gotowego rozwiązania w Bibliotece i dostosowuje je do swojej gminy — to moduł Middleman. Ekspert ocenia innowacje, żeby gminy wiedziały, co warto wdrażać. ROPS wszystko weryfikuje w Panelu i odpowiada na wiadomości.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 najlepiej pokazać to na żywo: otwieramy jedną innowację, na przykład Cyfrowy Senior, i przełączamy rolę w nagłówku. Mieszkaniec widzi zapis na test, urzędnik — dostosowanie do swojej gminy z pomocą AI, a ekspert — formularz opinii eksperta.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 demo rolę wybiera się przełącznikiem w nagłówku — dzięki temu komisja może w kilka sekund zobaczyć aplikację oczami każdej grupy. Aplikacja dopasowuje opis, główny przycisk i działania przy innowacjach. W wersji produkcyjnej rolę ustalałoby konto po zalogowaniu, a razem z nią uprawnienia, na przykład dostęp do Panelu ROPS.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Podaj Dalej to aplikacja webowa — działa w przeglądarce, bez instalacji, na komputerze i telefonie. Sercem jest Next.js 16: strony renderują się na serwerze, a zapis i wywołania AI idą przez Server Actions, bez osobnego API. Dane trzymamy w Supabase, czyli Postgresie z rozszerzeniem pgvector do wyszukiwania po znaczeniu. Za AI odpowiada Google Gemini, e-maile wysyła Resend, a adresy na mapie wyszukuje OpenStreetMap. Klucze do bazy i AI są tylko na serwerze.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Zwykła wyszukiwarka szuka tych samych słów. My szukamy po znaczeniu. Opis problemu zamieniamy modelem Gemini na wektor 768 liczb — tak zwany embedding. Każda innowacja w bibliotece ma taki wektor, a pgvector w Supabase znajduje te najbliższe. Dzięki temu »starsi ludzie nie mają jak dojechać do lekarza« trafi na innowacje o transporcie dla seniorów, nawet jeśli nie padają w nich te same słowa. Ten sam mechanizm wykrywa duplikaty w Kreatorze — powyżej 75 procent podobieństwa uznajemy pomysł za już istniejący — i pokazuje podobne zgłoszenia z innych gmin.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Generatywnego AI używamy w czterech miejscach. Przy zgłoszeniu problemu Gemini wyciąga kategorię i kluczowe wyzwania. W »Dostosuj do gminy« przygotowuje plan wdrożenia z barierami, budżetem i wskaźnikami. W Kreatorze zamienia luźny opis pomysłu na kanwę innowacji ROPS, a generator pisze szkic wniosku o grant. Model zawsze odpowiada w ustalonym schemacie JSON, więc aplikacja nie musi zgadywać, co dostała — a ostateczną decyzję zawsze podejmuje człowiek.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Nasi najważniejsi odbiorcy to seniorzy i osoby z niepełnosprawnościami, więc dostępność była wymaganiem od pierwszego dnia: WCAG 2.1 AA, obsługa klawiaturą, duży tekst z przyciskiem A+, działanie przy powiększeniu 200 procent i na wąskim telefonie. Dbamy też o prywatność: adresy e-mail i klucze API zostają na serwerze. Podsumowując: Podaj Dalej sprawia, że dobre rozwiązania nie zostają w jednej gminie. Dziękujemy.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Podsumowując: Małopolska się starzeje, rośnie samotność i wykluczenie cyfrowe, a dobre rozwiązania zostają w jednej gminie. Podaj Dalej zbiera sprawdzone innowacje i z pomocą AI dopasowuje je do potrzeb konkretnej gminy — dla mieszkańców, organizacji, samorządów, ekspertów i ROPS, w pełni dostępnie. Jesteśmy zespół Dombasiarze — dziękujemy. Zapraszamy do zeskanowania kodu i chętnie odpowiemy na pytania.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lowy">
    <p:bg>
      <p:bgPr>
        <a:solidFill>
          <a:srgbClr val="07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234440"/>
            <a:ext cx="56692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Nadtytuł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Tytuł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5669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Hasło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53035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Opis</a:t>
            </a:r>
            <a:endParaRPr lang="en-US" sz="1600" dirty="0"/>
          </a:p>
        </p:txBody>
      </p:sp>
      <p:sp>
        <p:nvSpPr>
          <p:cNvPr id="6" name="Zrzut ekranu 104"/>
          <p:cNvSpPr>
            <a:spLocks noGrp="1"/>
          </p:cNvSpPr>
          <p:nvPr>
            <p:ph type="pic" idx="104" hasCustomPrompt="1"/>
          </p:nvPr>
        </p:nvSpPr>
        <p:spPr>
          <a:xfrm>
            <a:off x="6629400" y="1234440"/>
            <a:ext cx="4983480" cy="4023360"/>
          </a:xfrm>
          <a:prstGeom prst="roundRect">
            <a:avLst>
              <a:gd name="adj" fmla="val 5000"/>
            </a:avLst>
          </a:prstGeom>
          <a:solidFill>
            <a:schemeClr val="accent1">
              <a:alpha val="30000"/>
            </a:schemeClr>
          </a:solidFill>
          <a:ln w="19050">
            <a:solidFill>
              <a:schemeClr val="accent2"/>
            </a:solidFill>
            <a:prstDash val="dash"/>
          </a:ln>
        </p:spPr>
        <p:txBody>
          <a:bodyPr anchor="ctr"/>
          <a:lstStyle>
            <a:lvl1pPr marL="0" indent="0" algn="ctr">
              <a:buNone/>
              <a:defRPr sz="1400">
                <a:solidFill>
                  <a:schemeClr val="accent5"/>
                </a:solidFill>
              </a:defRPr>
            </a:lvl1pPr>
          </a:lstStyle>
          <a:p>
            <a:r>
              <a:rPr lang="pl-PL" sz="1400" dirty="0"/>
              <a:t>Wstaw zrzut ekranu: strona główna</a:t>
            </a:r>
          </a:p>
        </p:txBody>
      </p:sp>
      <p:sp>
        <p:nvSpPr>
          <p:cNvPr id="7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Podaj Dalej · HackYeah 2026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es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Tytuł slajdu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Jedno zdanie wyjaśnienia</a:t>
            </a: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Podaj Dalej · HackYeah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zy zrzu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Tytuł slajdu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Jedno zdanie wyjaśnienia</a:t>
            </a:r>
            <a:endParaRPr lang="en-US" sz="1800" dirty="0"/>
          </a:p>
        </p:txBody>
      </p:sp>
      <p:sp>
        <p:nvSpPr>
          <p:cNvPr id="4" name="Zrzut ekranu 102"/>
          <p:cNvSpPr>
            <a:spLocks noGrp="1"/>
          </p:cNvSpPr>
          <p:nvPr>
            <p:ph type="pic" idx="102" hasCustomPrompt="1"/>
          </p:nvPr>
        </p:nvSpPr>
        <p:spPr>
          <a:xfrm>
            <a:off x="548640" y="1874520"/>
            <a:ext cx="3454298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9050">
            <a:solidFill>
              <a:schemeClr val="accent6"/>
            </a:solidFill>
            <a:prstDash val="dash"/>
          </a:ln>
        </p:spPr>
        <p:txBody>
          <a:bodyPr anchor="ctr"/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r>
              <a:rPr lang="pl-PL" sz="1400" dirty="0"/>
              <a:t>Zrzut: innowacja jako Mieszkaniec</a:t>
            </a:r>
          </a:p>
        </p:txBody>
      </p:sp>
      <p:sp>
        <p:nvSpPr>
          <p:cNvPr id="5" name="Zrzut ekranu 103"/>
          <p:cNvSpPr>
            <a:spLocks noGrp="1"/>
          </p:cNvSpPr>
          <p:nvPr>
            <p:ph type="pic" idx="103" hasCustomPrompt="1"/>
          </p:nvPr>
        </p:nvSpPr>
        <p:spPr>
          <a:xfrm>
            <a:off x="4368698" y="1874520"/>
            <a:ext cx="3454298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9050">
            <a:solidFill>
              <a:schemeClr val="accent6"/>
            </a:solidFill>
            <a:prstDash val="dash"/>
          </a:ln>
        </p:spPr>
        <p:txBody>
          <a:bodyPr anchor="ctr"/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r>
              <a:rPr lang="pl-PL" sz="1400" dirty="0"/>
              <a:t>Zrzut: innowacja jako Samorząd</a:t>
            </a:r>
          </a:p>
        </p:txBody>
      </p:sp>
      <p:sp>
        <p:nvSpPr>
          <p:cNvPr id="6" name="Zrzut ekranu 104"/>
          <p:cNvSpPr>
            <a:spLocks noGrp="1"/>
          </p:cNvSpPr>
          <p:nvPr>
            <p:ph type="pic" idx="104" hasCustomPrompt="1"/>
          </p:nvPr>
        </p:nvSpPr>
        <p:spPr>
          <a:xfrm>
            <a:off x="8188757" y="1874520"/>
            <a:ext cx="3454298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9050">
            <a:solidFill>
              <a:schemeClr val="accent6"/>
            </a:solidFill>
            <a:prstDash val="dash"/>
          </a:ln>
        </p:spPr>
        <p:txBody>
          <a:bodyPr anchor="ctr"/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r>
              <a:rPr lang="pl-PL" sz="1400" dirty="0"/>
              <a:t>Zrzut: innowacja jako Ekspert</a:t>
            </a:r>
          </a:p>
        </p:txBody>
      </p:sp>
      <p:sp>
        <p:nvSpPr>
          <p:cNvPr id="7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Podaj Dalej · HackYeah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mny z zrzutem">
    <p:bg>
      <p:bgPr>
        <a:solidFill>
          <a:srgbClr val="07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Tytuł slajdu</a:t>
            </a:r>
            <a:endParaRPr lang="en-US" sz="3600" dirty="0"/>
          </a:p>
        </p:txBody>
      </p:sp>
      <p:sp>
        <p:nvSpPr>
          <p:cNvPr id="3" name="Zrzut ekranu 101"/>
          <p:cNvSpPr>
            <a:spLocks noGrp="1"/>
          </p:cNvSpPr>
          <p:nvPr>
            <p:ph type="pic" idx="101" hasCustomPrompt="1"/>
          </p:nvPr>
        </p:nvSpPr>
        <p:spPr>
          <a:xfrm>
            <a:off x="6812280" y="1325880"/>
            <a:ext cx="4800600" cy="4206240"/>
          </a:xfrm>
          <a:prstGeom prst="roundRect">
            <a:avLst>
              <a:gd name="adj" fmla="val 5000"/>
            </a:avLst>
          </a:prstGeom>
          <a:solidFill>
            <a:schemeClr val="accent1">
              <a:alpha val="30000"/>
            </a:schemeClr>
          </a:solidFill>
          <a:ln w="19050">
            <a:solidFill>
              <a:schemeClr val="accent2"/>
            </a:solidFill>
            <a:prstDash val="dash"/>
          </a:ln>
        </p:spPr>
        <p:txBody>
          <a:bodyPr anchor="ctr"/>
          <a:lstStyle>
            <a:lvl1pPr marL="0" indent="0" algn="ctr">
              <a:buNone/>
              <a:defRPr sz="1400">
                <a:solidFill>
                  <a:schemeClr val="accent5"/>
                </a:solidFill>
              </a:defRPr>
            </a:lvl1pPr>
          </a:lstStyle>
          <a:p>
            <a:r>
              <a:rPr lang="pl-PL" sz="1400" dirty="0"/>
              <a:t>Wstaw zrzut ekranu: przełącznik ról</a:t>
            </a:r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Podaj Dalej · HackYeah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mny">
    <p:bg>
      <p:bgPr>
        <a:solidFill>
          <a:srgbClr val="07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Tytuł slajdu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Jedno zdanie wyjaśnienia</a:t>
            </a: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Podaj Dalej · HackYeah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akonczenie">
    <p:bg>
      <p:bgPr>
        <a:solidFill>
          <a:srgbClr val="07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686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Nadtytuł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8016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Tytuł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Hasło</a:t>
            </a:r>
            <a:endParaRPr lang="en-US" sz="2600" dirty="0"/>
          </a:p>
        </p:txBody>
      </p:sp>
      <p:sp>
        <p:nvSpPr>
          <p:cNvPr id="5" name="Zrzut ekranu 103"/>
          <p:cNvSpPr>
            <a:spLocks noGrp="1"/>
          </p:cNvSpPr>
          <p:nvPr>
            <p:ph type="pic" idx="103" hasCustomPrompt="1"/>
          </p:nvPr>
        </p:nvSpPr>
        <p:spPr>
          <a:xfrm>
            <a:off x="8321040" y="1188720"/>
            <a:ext cx="3017520" cy="3017520"/>
          </a:xfrm>
          <a:prstGeom prst="roundRect">
            <a:avLst>
              <a:gd name="adj" fmla="val 5000"/>
            </a:avLst>
          </a:prstGeom>
          <a:solidFill>
            <a:schemeClr val="accent1">
              <a:alpha val="30000"/>
            </a:schemeClr>
          </a:solidFill>
          <a:ln w="19050">
            <a:solidFill>
              <a:schemeClr val="accent2"/>
            </a:solidFill>
            <a:prstDash val="dash"/>
          </a:ln>
        </p:spPr>
        <p:txBody>
          <a:bodyPr anchor="ctr"/>
          <a:lstStyle>
            <a:lvl1pPr marL="0" indent="0" algn="ctr">
              <a:buNone/>
              <a:defRPr sz="1400">
                <a:solidFill>
                  <a:schemeClr val="accent5"/>
                </a:solidFill>
              </a:defRPr>
            </a:lvl1pPr>
          </a:lstStyle>
          <a:p>
            <a:r>
              <a:rPr lang="pl-PL" sz="1400" dirty="0"/>
              <a:t>Wstaw kod QR do aplikacji</a:t>
            </a:r>
          </a:p>
        </p:txBody>
      </p:sp>
      <p:sp>
        <p:nvSpPr>
          <p:cNvPr id="6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Podaj Dalej · HackYeah 2026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tytuł"/>
          <p:cNvSpPr/>
          <p:nvPr>
            <p:ph idx="100" type="body" hasCustomPrompt="1"/>
          </p:nvPr>
        </p:nvSpPr>
        <p:spPr>
          <a:xfrm>
            <a:off x="548640" y="12344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MAŁOPOLSKI HUB INNOWACJI SPOŁECZNYCH</a:t>
            </a:r>
            <a:endParaRPr lang="en-US" sz="1400" dirty="0"/>
          </a:p>
        </p:txBody>
      </p:sp>
      <p:sp>
        <p:nvSpPr>
          <p:cNvPr id="3" name="Tytuł"/>
          <p:cNvSpPr/>
          <p:nvPr>
            <p:ph idx="101" type="title" hasCustomPrompt="1"/>
          </p:nvPr>
        </p:nvSpPr>
        <p:spPr>
          <a:xfrm>
            <a:off x="548640" y="16916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Podaj Dalej</a:t>
            </a:r>
            <a:endParaRPr lang="en-US" sz="6000" dirty="0"/>
          </a:p>
        </p:txBody>
      </p:sp>
      <p:sp>
        <p:nvSpPr>
          <p:cNvPr id="4" name="Hasło"/>
          <p:cNvSpPr/>
          <p:nvPr>
            <p:ph idx="102" type="body" hasCustomPrompt="1"/>
          </p:nvPr>
        </p:nvSpPr>
        <p:spPr>
          <a:xfrm>
            <a:off x="548640" y="29718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Nie wymyślaj koła na nowo — podaj dalej</a:t>
            </a:r>
            <a:endParaRPr lang="en-US" sz="2600" dirty="0"/>
          </a:p>
        </p:txBody>
      </p:sp>
      <p:sp>
        <p:nvSpPr>
          <p:cNvPr id="5" name="Opis"/>
          <p:cNvSpPr/>
          <p:nvPr>
            <p:ph idx="103" type="body" hasCustomPrompt="1"/>
          </p:nvPr>
        </p:nvSpPr>
        <p:spPr>
          <a:xfrm>
            <a:off x="548640" y="397764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Łączymy problemy zgłaszane przez mieszkańców, organizacje i gminy z gotowymi innowacjami społecznymi. Każdy z nich ma w aplikacji własną ścieżkę.</a:t>
            </a:r>
            <a:endParaRPr lang="en-US" sz="1600" dirty="0"/>
          </a:p>
        </p:txBody>
      </p:sp>
      <p:sp>
        <p:nvSpPr>
          <p:cNvPr id="6" name="Zrzut ekranu"/>
          <p:cNvSpPr>
            <a:spLocks noGrp="1"/>
          </p:cNvSpPr>
          <p:nvPr>
            <p:ph type="pic" idx="104"/>
          </p:nvPr>
        </p:nvSpPr>
        <p:spPr/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2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Małopolska się starzeje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Coraz więcej mieszkańców potrzebuje wsparcia blisko domu</a:t>
            </a:r>
            <a:endParaRPr lang="en-US" sz="1800" dirty="0"/>
          </a:p>
        </p:txBody>
      </p:sp>
      <p:graphicFrame>
        <p:nvGraphicFramePr>
          <p:cNvPr id="4" name="wykres" descr="Udział osób w wieku poprodukcyjnym w Małopolsce: 2022 – 21,0%, 2030 – 22,9%, 2040 – 26,3%, 2050 – 31,1%, 2060 – 33,6%"/>
          <p:cNvGraphicFramePr/>
          <p:nvPr/>
        </p:nvGraphicFramePr>
        <p:xfrm>
          <a:off x="548640" y="1783080"/>
          <a:ext cx="7040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y1-liczba"/>
          <p:cNvSpPr txBox="1"/>
          <p:nvPr/>
        </p:nvSpPr>
        <p:spPr>
          <a:xfrm>
            <a:off x="8001000" y="1828800"/>
            <a:ext cx="36393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1 na 3</a:t>
            </a:r>
            <a:endParaRPr lang="en-US" sz="6600" dirty="0"/>
          </a:p>
        </p:txBody>
      </p:sp>
      <p:sp>
        <p:nvSpPr>
          <p:cNvPr id="6" name="staty1-opis"/>
          <p:cNvSpPr txBox="1"/>
          <p:nvPr/>
        </p:nvSpPr>
        <p:spPr>
          <a:xfrm>
            <a:off x="8001000" y="2834640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mieszkańców Małopolski będzie w 2060 r. w wieku poprodukcyjnym</a:t>
            </a:r>
            <a:endParaRPr lang="en-US" sz="1600" dirty="0"/>
          </a:p>
        </p:txBody>
      </p:sp>
      <p:sp>
        <p:nvSpPr>
          <p:cNvPr id="7" name="staty2-liczba"/>
          <p:cNvSpPr txBox="1"/>
          <p:nvPr/>
        </p:nvSpPr>
        <p:spPr>
          <a:xfrm>
            <a:off x="8001000" y="3886200"/>
            <a:ext cx="3639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+247 tys.</a:t>
            </a:r>
            <a:endParaRPr lang="en-US" sz="4000" dirty="0"/>
          </a:p>
        </p:txBody>
      </p:sp>
      <p:sp>
        <p:nvSpPr>
          <p:cNvPr id="8" name="staty2-opis"/>
          <p:cNvSpPr txBox="1"/>
          <p:nvPr/>
        </p:nvSpPr>
        <p:spPr>
          <a:xfrm>
            <a:off x="8001000" y="4617720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osób w wieku 80+ w 2060 r. w porównaniu z 2022 r.</a:t>
            </a:r>
            <a:endParaRPr lang="en-US" sz="1600" dirty="0"/>
          </a:p>
        </p:txBody>
      </p:sp>
      <p:sp>
        <p:nvSpPr>
          <p:cNvPr id="9" name="zrodlo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Źródło: Prognoza demograficzna dla województwa małopolskiego do 2060 r., Małopolskie Obserwatorium Rozwoju Regionalnego (dane GUS). Wiek poprodukcyjny: kobiety 60+, mężczyźni 65+.</a:t>
            </a:r>
            <a:endParaRPr lang="en-US" sz="1100" dirty="0"/>
          </a:p>
        </p:txBody>
      </p:sp>
      <p:sp>
        <p:nvSpPr>
          <p:cNvPr id="26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3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4" grpId="0">
        <p:bldAsOne/>
      </p:bldGraphic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Seniorzy zostają offline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Ponad 4 na 10 osób w wieku 65–74 lata nie korzysta regularnie z internetu</a:t>
            </a:r>
            <a:endParaRPr lang="en-US" sz="1800" dirty="0"/>
          </a:p>
        </p:txBody>
      </p:sp>
      <p:graphicFrame>
        <p:nvGraphicFramePr>
          <p:cNvPr id="4" name="wykres" descr="Osoby regularnie korzystające z internetu w 2024 r. według wieku: 16–24 – 99,5%, 25–34 – 98,1%, 35–44 – 97,3%, 45–54 – 94,4%, 55–64 – 82,5%, 65–74 – 56,8%"/>
          <p:cNvGraphicFramePr/>
          <p:nvPr/>
        </p:nvGraphicFramePr>
        <p:xfrm>
          <a:off x="548640" y="1783080"/>
          <a:ext cx="7040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y1-liczba"/>
          <p:cNvSpPr txBox="1"/>
          <p:nvPr/>
        </p:nvSpPr>
        <p:spPr>
          <a:xfrm>
            <a:off x="8001000" y="1828800"/>
            <a:ext cx="36393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13,7%</a:t>
            </a:r>
            <a:endParaRPr lang="en-US" sz="6600" dirty="0"/>
          </a:p>
        </p:txBody>
      </p:sp>
      <p:sp>
        <p:nvSpPr>
          <p:cNvPr id="6" name="staty1-opis"/>
          <p:cNvSpPr txBox="1"/>
          <p:nvPr/>
        </p:nvSpPr>
        <p:spPr>
          <a:xfrm>
            <a:off x="8001000" y="2834640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osób w wieku 65–74 lata ma co najmniej podstawowe umiejętności cyfrowe</a:t>
            </a:r>
            <a:endParaRPr lang="en-US" sz="1600" dirty="0"/>
          </a:p>
        </p:txBody>
      </p:sp>
      <p:sp>
        <p:nvSpPr>
          <p:cNvPr id="7" name="staty2-liczba"/>
          <p:cNvSpPr txBox="1"/>
          <p:nvPr/>
        </p:nvSpPr>
        <p:spPr>
          <a:xfrm>
            <a:off x="8001000" y="3886200"/>
            <a:ext cx="3639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73,5%</a:t>
            </a:r>
            <a:endParaRPr lang="en-US" sz="4000" dirty="0"/>
          </a:p>
        </p:txBody>
      </p:sp>
      <p:sp>
        <p:nvSpPr>
          <p:cNvPr id="8" name="staty2-opis"/>
          <p:cNvSpPr txBox="1"/>
          <p:nvPr/>
        </p:nvSpPr>
        <p:spPr>
          <a:xfrm>
            <a:off x="8001000" y="4617720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dla porównania w grupie 16–24 lata</a:t>
            </a:r>
            <a:endParaRPr lang="en-US" sz="1600" dirty="0"/>
          </a:p>
        </p:txBody>
      </p:sp>
      <p:sp>
        <p:nvSpPr>
          <p:cNvPr id="9" name="zrodlo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Źródło: GUS, Społeczeństwo informacyjne w Polsce w 2024 r. (tablica 27 i wykres 4).</a:t>
            </a:r>
            <a:endParaRPr lang="en-US" sz="1100" dirty="0"/>
          </a:p>
        </p:txBody>
      </p:sp>
      <p:sp>
        <p:nvSpPr>
          <p:cNvPr id="26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3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4" grpId="0">
        <p:bldAsOne/>
      </p:bldGraphic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Samotność się podwoiła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Coraz więcej osób czuje się osamotnionych, nawet gdy dookoła są ludzie</a:t>
            </a:r>
            <a:endParaRPr lang="en-US" sz="1800" dirty="0"/>
          </a:p>
        </p:txBody>
      </p:sp>
      <p:graphicFrame>
        <p:nvGraphicFramePr>
          <p:cNvPr id="4" name="wykres" descr="Dorośli Polacy, którzy bardzo często lub zawsze czują się osamotnieni: 2017 – 4%, 2024 – 8%"/>
          <p:cNvGraphicFramePr/>
          <p:nvPr/>
        </p:nvGraphicFramePr>
        <p:xfrm>
          <a:off x="548640" y="1783080"/>
          <a:ext cx="7040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y1-liczba"/>
          <p:cNvSpPr txBox="1"/>
          <p:nvPr/>
        </p:nvSpPr>
        <p:spPr>
          <a:xfrm>
            <a:off x="8001000" y="1828800"/>
            <a:ext cx="36393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2×</a:t>
            </a:r>
            <a:endParaRPr lang="en-US" sz="6600" dirty="0"/>
          </a:p>
        </p:txBody>
      </p:sp>
      <p:sp>
        <p:nvSpPr>
          <p:cNvPr id="6" name="staty1-opis"/>
          <p:cNvSpPr txBox="1"/>
          <p:nvPr/>
        </p:nvSpPr>
        <p:spPr>
          <a:xfrm>
            <a:off x="8001000" y="2834640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więcej osób stale samotnych niż w 2017 r.</a:t>
            </a:r>
            <a:endParaRPr lang="en-US" sz="1600" dirty="0"/>
          </a:p>
        </p:txBody>
      </p:sp>
      <p:sp>
        <p:nvSpPr>
          <p:cNvPr id="7" name="staty2-liczba"/>
          <p:cNvSpPr txBox="1"/>
          <p:nvPr/>
        </p:nvSpPr>
        <p:spPr>
          <a:xfrm>
            <a:off x="8001000" y="3886200"/>
            <a:ext cx="3639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48%</a:t>
            </a:r>
            <a:endParaRPr lang="en-US" sz="4000" dirty="0"/>
          </a:p>
        </p:txBody>
      </p:sp>
      <p:sp>
        <p:nvSpPr>
          <p:cNvPr id="8" name="staty2-opis"/>
          <p:cNvSpPr txBox="1"/>
          <p:nvPr/>
        </p:nvSpPr>
        <p:spPr>
          <a:xfrm>
            <a:off x="8001000" y="4617720"/>
            <a:ext cx="3639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dorosłych doświadcza poczucia osamotnienia</a:t>
            </a:r>
            <a:endParaRPr lang="en-US" sz="1600" dirty="0"/>
          </a:p>
        </p:txBody>
      </p:sp>
      <p:sp>
        <p:nvSpPr>
          <p:cNvPr id="9" name="zrodlo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Źródło: CBOS, Kto jest najbardziej narażony na samotność? Komunikat z badań nr 115/2024 (badanie VIII 2024, N = 939).</a:t>
            </a:r>
            <a:endParaRPr lang="en-US" sz="1100" dirty="0"/>
          </a:p>
        </p:txBody>
      </p:sp>
      <p:sp>
        <p:nvSpPr>
          <p:cNvPr id="26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3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4" grpId="0">
        <p:bldAsOne/>
      </p:bldGraphic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Dobre rozwiązania nie idą dalej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Gminy szukają odpowiedzi osobno, choć wiele z nich gdzieś już działa</a:t>
            </a:r>
            <a:endParaRPr lang="en-US" sz="1800" dirty="0"/>
          </a:p>
        </p:txBody>
      </p:sp>
      <p:sp>
        <p:nvSpPr>
          <p:cNvPr id="4" name="fakt1-karta"/>
          <p:cNvSpPr/>
          <p:nvPr/>
        </p:nvSpPr>
        <p:spPr>
          <a:xfrm>
            <a:off x="548640" y="1874520"/>
            <a:ext cx="3454298" cy="3566160"/>
          </a:xfrm>
          <a:prstGeom prst="roundRect">
            <a:avLst>
              <a:gd name="adj" fmla="val 4765"/>
            </a:avLst>
          </a:prstGeom>
          <a:solidFill>
            <a:schemeClr val="bg2"/>
          </a:solidFill>
          <a:ln/>
        </p:spPr>
      </p:sp>
      <p:sp>
        <p:nvSpPr>
          <p:cNvPr id="5" name="fakt1-liczba"/>
          <p:cNvSpPr txBox="1"/>
          <p:nvPr/>
        </p:nvSpPr>
        <p:spPr>
          <a:xfrm>
            <a:off x="914400" y="2240280"/>
            <a:ext cx="27227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183</a:t>
            </a:r>
            <a:endParaRPr lang="en-US" sz="6600" dirty="0"/>
          </a:p>
        </p:txBody>
      </p:sp>
      <p:sp>
        <p:nvSpPr>
          <p:cNvPr id="6" name="fakt1-opis"/>
          <p:cNvSpPr txBox="1"/>
          <p:nvPr/>
        </p:nvSpPr>
        <p:spPr>
          <a:xfrm>
            <a:off x="914400" y="3566160"/>
            <a:ext cx="272277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gminy w Małopolsce — każda mierzy się z tymi samymi wyzwaniami</a:t>
            </a:r>
            <a:endParaRPr lang="en-US" sz="1800" dirty="0"/>
          </a:p>
        </p:txBody>
      </p:sp>
      <p:sp>
        <p:nvSpPr>
          <p:cNvPr id="7" name="fakt2-karta"/>
          <p:cNvSpPr/>
          <p:nvPr/>
        </p:nvSpPr>
        <p:spPr>
          <a:xfrm>
            <a:off x="4368698" y="1874520"/>
            <a:ext cx="3454298" cy="3566160"/>
          </a:xfrm>
          <a:prstGeom prst="roundRect">
            <a:avLst>
              <a:gd name="adj" fmla="val 4765"/>
            </a:avLst>
          </a:prstGeom>
          <a:solidFill>
            <a:schemeClr val="bg2"/>
          </a:solidFill>
          <a:ln/>
        </p:spPr>
      </p:sp>
      <p:sp>
        <p:nvSpPr>
          <p:cNvPr id="8" name="fakt2-liczba"/>
          <p:cNvSpPr txBox="1"/>
          <p:nvPr/>
        </p:nvSpPr>
        <p:spPr>
          <a:xfrm>
            <a:off x="4734458" y="2240280"/>
            <a:ext cx="27227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9 z 60</a:t>
            </a:r>
            <a:endParaRPr lang="en-US" sz="6600" dirty="0"/>
          </a:p>
        </p:txBody>
      </p:sp>
      <p:sp>
        <p:nvSpPr>
          <p:cNvPr id="9" name="fakt2-opis"/>
          <p:cNvSpPr txBox="1"/>
          <p:nvPr/>
        </p:nvSpPr>
        <p:spPr>
          <a:xfrm>
            <a:off x="4734458" y="3566160"/>
            <a:ext cx="272277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projektów inkubatora ROPS wybrano do powszechnego zastosowania</a:t>
            </a:r>
            <a:endParaRPr lang="en-US" sz="1800" dirty="0"/>
          </a:p>
        </p:txBody>
      </p:sp>
      <p:sp>
        <p:nvSpPr>
          <p:cNvPr id="10" name="fakt3-karta"/>
          <p:cNvSpPr/>
          <p:nvPr/>
        </p:nvSpPr>
        <p:spPr>
          <a:xfrm>
            <a:off x="8188757" y="1874520"/>
            <a:ext cx="3454298" cy="3566160"/>
          </a:xfrm>
          <a:prstGeom prst="roundRect">
            <a:avLst>
              <a:gd name="adj" fmla="val 4765"/>
            </a:avLst>
          </a:prstGeom>
          <a:solidFill>
            <a:schemeClr val="bg2"/>
          </a:solidFill>
          <a:ln/>
        </p:spPr>
      </p:sp>
      <p:sp>
        <p:nvSpPr>
          <p:cNvPr id="11" name="fakt3-kolo"/>
          <p:cNvSpPr/>
          <p:nvPr/>
        </p:nvSpPr>
        <p:spPr>
          <a:xfrm>
            <a:off x="8554517" y="237744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fakt3-liczb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3117" y="2606040"/>
            <a:ext cx="502920" cy="502920"/>
          </a:xfrm>
          <a:prstGeom prst="rect">
            <a:avLst/>
          </a:prstGeom>
        </p:spPr>
      </p:pic>
      <p:sp>
        <p:nvSpPr>
          <p:cNvPr id="13" name="fakt3-opis"/>
          <p:cNvSpPr txBox="1"/>
          <p:nvPr/>
        </p:nvSpPr>
        <p:spPr>
          <a:xfrm>
            <a:off x="8554517" y="3566160"/>
            <a:ext cx="272277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Wiedza o sprawdzonych innowacjach leży w raportach, a nie tam, gdzie gmina jej szuka</a:t>
            </a:r>
            <a:endParaRPr lang="en-US" sz="1800" dirty="0"/>
          </a:p>
        </p:txBody>
      </p:sp>
      <p:sp>
        <p:nvSpPr>
          <p:cNvPr id="14" name="zrodlo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Źródła: podział administracyjny województwa małopolskiego, stan na 1.01.2025; „Małopolska stawia na innowacyjne rozwiązania społeczne”, fundusze.malopolska.pl, 19.02.2024.</a:t>
            </a:r>
            <a:endParaRPr lang="en-US" sz="1100" dirty="0"/>
          </a:p>
        </p:txBody>
      </p:sp>
      <p:sp>
        <p:nvSpPr>
          <p:cNvPr id="26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700"/>
                            </p:stCondLst>
                            <p:childTnLst>
                              <p:par>
                                <p:cTn id="4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3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Nasze rozwiązanie: Podaj Dalej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Platforma, która przenosi sprawdzone innowacje społeczne do kolejnych gmin</a:t>
            </a:r>
            <a:endParaRPr lang="en-US" sz="1800" dirty="0"/>
          </a:p>
        </p:txBody>
      </p:sp>
      <p:sp>
        <p:nvSpPr>
          <p:cNvPr id="4" name="etap1-karta"/>
          <p:cNvSpPr/>
          <p:nvPr/>
        </p:nvSpPr>
        <p:spPr>
          <a:xfrm>
            <a:off x="548640" y="1874520"/>
            <a:ext cx="3154680" cy="2788920"/>
          </a:xfrm>
          <a:prstGeom prst="roundRect">
            <a:avLst>
              <a:gd name="adj" fmla="val 5902"/>
            </a:avLst>
          </a:prstGeom>
          <a:solidFill>
            <a:schemeClr val="bg2"/>
          </a:solidFill>
          <a:ln/>
        </p:spPr>
      </p:sp>
      <p:sp>
        <p:nvSpPr>
          <p:cNvPr id="5" name="etap1-kolo"/>
          <p:cNvSpPr/>
          <p:nvPr/>
        </p:nvSpPr>
        <p:spPr>
          <a:xfrm>
            <a:off x="868680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etap1-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77440"/>
            <a:ext cx="411480" cy="411480"/>
          </a:xfrm>
          <a:prstGeom prst="rect">
            <a:avLst/>
          </a:prstGeom>
        </p:spPr>
      </p:pic>
      <p:sp>
        <p:nvSpPr>
          <p:cNvPr id="7" name="etap1-tytul"/>
          <p:cNvSpPr txBox="1"/>
          <p:nvPr/>
        </p:nvSpPr>
        <p:spPr>
          <a:xfrm>
            <a:off x="868680" y="31546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 Zgłoś</a:t>
            </a:r>
            <a:endParaRPr lang="en-US" sz="2200" dirty="0"/>
          </a:p>
        </p:txBody>
      </p:sp>
      <p:sp>
        <p:nvSpPr>
          <p:cNvPr id="8" name="etap1-opis"/>
          <p:cNvSpPr txBox="1"/>
          <p:nvPr/>
        </p:nvSpPr>
        <p:spPr>
          <a:xfrm>
            <a:off x="868680" y="36118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Mieszkaniec opisuje problem tekstem lub głosem i zaznacza miejsce na mapie</a:t>
            </a:r>
            <a:endParaRPr lang="en-US" sz="1600" dirty="0"/>
          </a:p>
        </p:txBody>
      </p:sp>
      <p:pic>
        <p:nvPicPr>
          <p:cNvPr id="9" name="etap1-strzalk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2314" y="3044952"/>
            <a:ext cx="457200" cy="457200"/>
          </a:xfrm>
          <a:prstGeom prst="rect">
            <a:avLst/>
          </a:prstGeom>
        </p:spPr>
      </p:pic>
      <p:sp>
        <p:nvSpPr>
          <p:cNvPr id="10" name="etap2-karta"/>
          <p:cNvSpPr/>
          <p:nvPr/>
        </p:nvSpPr>
        <p:spPr>
          <a:xfrm>
            <a:off x="4518508" y="1874520"/>
            <a:ext cx="3154680" cy="2788920"/>
          </a:xfrm>
          <a:prstGeom prst="roundRect">
            <a:avLst>
              <a:gd name="adj" fmla="val 5902"/>
            </a:avLst>
          </a:prstGeom>
          <a:solidFill>
            <a:schemeClr val="bg2"/>
          </a:solidFill>
          <a:ln/>
        </p:spPr>
      </p:sp>
      <p:sp>
        <p:nvSpPr>
          <p:cNvPr id="11" name="etap2-kolo"/>
          <p:cNvSpPr/>
          <p:nvPr/>
        </p:nvSpPr>
        <p:spPr>
          <a:xfrm>
            <a:off x="4838548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etap2-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428" y="2377440"/>
            <a:ext cx="411480" cy="411480"/>
          </a:xfrm>
          <a:prstGeom prst="rect">
            <a:avLst/>
          </a:prstGeom>
        </p:spPr>
      </p:pic>
      <p:sp>
        <p:nvSpPr>
          <p:cNvPr id="13" name="etap2-tytul"/>
          <p:cNvSpPr txBox="1"/>
          <p:nvPr/>
        </p:nvSpPr>
        <p:spPr>
          <a:xfrm>
            <a:off x="4838548" y="31546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2. Dopasuj</a:t>
            </a:r>
            <a:endParaRPr lang="en-US" sz="2200" dirty="0"/>
          </a:p>
        </p:txBody>
      </p:sp>
      <p:sp>
        <p:nvSpPr>
          <p:cNvPr id="14" name="etap2-opis"/>
          <p:cNvSpPr txBox="1"/>
          <p:nvPr/>
        </p:nvSpPr>
        <p:spPr>
          <a:xfrm>
            <a:off x="4838548" y="36118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szuka w bibliotece ROPS innowacji, które rozwiązały podobny problem</a:t>
            </a:r>
            <a:endParaRPr lang="en-US" sz="1600" dirty="0"/>
          </a:p>
        </p:txBody>
      </p:sp>
      <p:pic>
        <p:nvPicPr>
          <p:cNvPr id="15" name="etap2-strzalk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181" y="3044952"/>
            <a:ext cx="457200" cy="457200"/>
          </a:xfrm>
          <a:prstGeom prst="rect">
            <a:avLst/>
          </a:prstGeom>
        </p:spPr>
      </p:pic>
      <p:sp>
        <p:nvSpPr>
          <p:cNvPr id="16" name="etap3-karta"/>
          <p:cNvSpPr/>
          <p:nvPr/>
        </p:nvSpPr>
        <p:spPr>
          <a:xfrm>
            <a:off x="8488375" y="1874520"/>
            <a:ext cx="3154680" cy="2788920"/>
          </a:xfrm>
          <a:prstGeom prst="roundRect">
            <a:avLst>
              <a:gd name="adj" fmla="val 5902"/>
            </a:avLst>
          </a:prstGeom>
          <a:solidFill>
            <a:schemeClr val="bg2"/>
          </a:solidFill>
          <a:ln/>
        </p:spPr>
      </p:sp>
      <p:sp>
        <p:nvSpPr>
          <p:cNvPr id="17" name="etap3-kolo"/>
          <p:cNvSpPr/>
          <p:nvPr/>
        </p:nvSpPr>
        <p:spPr>
          <a:xfrm>
            <a:off x="8808415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etap3-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1295" y="2377440"/>
            <a:ext cx="411480" cy="411480"/>
          </a:xfrm>
          <a:prstGeom prst="rect">
            <a:avLst/>
          </a:prstGeom>
        </p:spPr>
      </p:pic>
      <p:sp>
        <p:nvSpPr>
          <p:cNvPr id="19" name="etap3-tytul"/>
          <p:cNvSpPr txBox="1"/>
          <p:nvPr/>
        </p:nvSpPr>
        <p:spPr>
          <a:xfrm>
            <a:off x="8808415" y="31546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3. Wdróż w gminie</a:t>
            </a:r>
            <a:endParaRPr lang="en-US" sz="2200" dirty="0"/>
          </a:p>
        </p:txBody>
      </p:sp>
      <p:sp>
        <p:nvSpPr>
          <p:cNvPr id="20" name="etap3-opis"/>
          <p:cNvSpPr txBox="1"/>
          <p:nvPr/>
        </p:nvSpPr>
        <p:spPr>
          <a:xfrm>
            <a:off x="8808415" y="36118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Gmina dostosowuje rozwiązanie z pomocą AI i testuje je z mieszkańcami</a:t>
            </a:r>
            <a:endParaRPr lang="en-US" sz="1600" dirty="0"/>
          </a:p>
        </p:txBody>
      </p:sp>
      <p:sp>
        <p:nvSpPr>
          <p:cNvPr id="21" name="dostepnosc-tytul"/>
          <p:cNvSpPr txBox="1"/>
          <p:nvPr/>
        </p:nvSpPr>
        <p:spPr>
          <a:xfrm>
            <a:off x="548640" y="5074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Dostępne dla każdego, także dla seniorów:</a:t>
            </a:r>
            <a:endParaRPr lang="en-US" sz="1800" dirty="0"/>
          </a:p>
        </p:txBody>
      </p:sp>
      <p:sp>
        <p:nvSpPr>
          <p:cNvPr id="22" name="dostepnosc-1"/>
          <p:cNvSpPr/>
          <p:nvPr/>
        </p:nvSpPr>
        <p:spPr>
          <a:xfrm>
            <a:off x="4846320" y="5074920"/>
            <a:ext cx="210312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Obsługa głosem</a:t>
            </a:r>
            <a:endParaRPr lang="en-US" sz="1500" dirty="0"/>
          </a:p>
        </p:txBody>
      </p:sp>
      <p:sp>
        <p:nvSpPr>
          <p:cNvPr id="23" name="dostepnosc-2"/>
          <p:cNvSpPr/>
          <p:nvPr/>
        </p:nvSpPr>
        <p:spPr>
          <a:xfrm>
            <a:off x="7132320" y="5074920"/>
            <a:ext cx="210312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Tekst 18 px i A+</a:t>
            </a:r>
            <a:endParaRPr lang="en-US" sz="1500" dirty="0"/>
          </a:p>
        </p:txBody>
      </p:sp>
      <p:sp>
        <p:nvSpPr>
          <p:cNvPr id="24" name="dostepnosc-3"/>
          <p:cNvSpPr/>
          <p:nvPr/>
        </p:nvSpPr>
        <p:spPr>
          <a:xfrm>
            <a:off x="9418320" y="5074920"/>
            <a:ext cx="210312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WCAG 2.1 AA</a:t>
            </a:r>
            <a:endParaRPr lang="en-US" sz="1500" dirty="0"/>
          </a:p>
        </p:txBody>
      </p:sp>
      <p:sp>
        <p:nvSpPr>
          <p:cNvPr id="26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1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9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Pięć ról, pięć ścieżek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Każdy odbiorca z karty ROPS ma w aplikacji własną drogę i własne działania</a:t>
            </a:r>
            <a:endParaRPr lang="en-US" sz="1800" dirty="0"/>
          </a:p>
        </p:txBody>
      </p:sp>
      <p:sp>
        <p:nvSpPr>
          <p:cNvPr id="4" name="rola1-karta"/>
          <p:cNvSpPr/>
          <p:nvPr/>
        </p:nvSpPr>
        <p:spPr>
          <a:xfrm>
            <a:off x="548640" y="1874520"/>
            <a:ext cx="2036003" cy="4160520"/>
          </a:xfrm>
          <a:prstGeom prst="roundRect">
            <a:avLst>
              <a:gd name="adj" fmla="val 8084"/>
            </a:avLst>
          </a:prstGeom>
          <a:solidFill>
            <a:schemeClr val="bg2"/>
          </a:solidFill>
          <a:ln/>
        </p:spPr>
      </p:sp>
      <p:sp>
        <p:nvSpPr>
          <p:cNvPr id="5" name="rola1-kolo"/>
          <p:cNvSpPr/>
          <p:nvPr/>
        </p:nvSpPr>
        <p:spPr>
          <a:xfrm>
            <a:off x="822960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ola1-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77440"/>
            <a:ext cx="411480" cy="411480"/>
          </a:xfrm>
          <a:prstGeom prst="rect">
            <a:avLst/>
          </a:prstGeom>
        </p:spPr>
      </p:pic>
      <p:sp>
        <p:nvSpPr>
          <p:cNvPr id="7" name="rola1-nazwa"/>
          <p:cNvSpPr txBox="1"/>
          <p:nvPr/>
        </p:nvSpPr>
        <p:spPr>
          <a:xfrm>
            <a:off x="822960" y="320040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Mieszkaniec</a:t>
            </a:r>
            <a:endParaRPr lang="en-US" sz="2100" dirty="0"/>
          </a:p>
        </p:txBody>
      </p:sp>
      <p:sp>
        <p:nvSpPr>
          <p:cNvPr id="8" name="rola1-opis"/>
          <p:cNvSpPr txBox="1"/>
          <p:nvPr/>
        </p:nvSpPr>
        <p:spPr>
          <a:xfrm>
            <a:off x="822960" y="3703320"/>
            <a:ext cx="1487363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Zgłasza problem z okolicy, zapisuje się na test i ocenia innowacje</a:t>
            </a:r>
            <a:endParaRPr lang="en-US" sz="1500" dirty="0"/>
          </a:p>
        </p:txBody>
      </p:sp>
      <p:sp>
        <p:nvSpPr>
          <p:cNvPr id="9" name="rola1-moduly"/>
          <p:cNvSpPr/>
          <p:nvPr/>
        </p:nvSpPr>
        <p:spPr>
          <a:xfrm>
            <a:off x="822960" y="5349240"/>
            <a:ext cx="1487363" cy="384048"/>
          </a:xfrm>
          <a:prstGeom prst="roundRect">
            <a:avLst>
              <a:gd name="adj" fmla="val 35714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Moduły I · IV</a:t>
            </a:r>
            <a:endParaRPr lang="en-US" sz="1200" dirty="0"/>
          </a:p>
        </p:txBody>
      </p:sp>
      <p:sp>
        <p:nvSpPr>
          <p:cNvPr id="10" name="rola2-karta"/>
          <p:cNvSpPr/>
          <p:nvPr/>
        </p:nvSpPr>
        <p:spPr>
          <a:xfrm>
            <a:off x="2813243" y="1874520"/>
            <a:ext cx="2036003" cy="4160520"/>
          </a:xfrm>
          <a:prstGeom prst="roundRect">
            <a:avLst>
              <a:gd name="adj" fmla="val 8084"/>
            </a:avLst>
          </a:prstGeom>
          <a:solidFill>
            <a:schemeClr val="bg2"/>
          </a:solidFill>
          <a:ln/>
        </p:spPr>
      </p:sp>
      <p:sp>
        <p:nvSpPr>
          <p:cNvPr id="11" name="rola2-kolo"/>
          <p:cNvSpPr/>
          <p:nvPr/>
        </p:nvSpPr>
        <p:spPr>
          <a:xfrm>
            <a:off x="3087563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rola2-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443" y="2377440"/>
            <a:ext cx="411480" cy="411480"/>
          </a:xfrm>
          <a:prstGeom prst="rect">
            <a:avLst/>
          </a:prstGeom>
        </p:spPr>
      </p:pic>
      <p:sp>
        <p:nvSpPr>
          <p:cNvPr id="13" name="rola2-nazwa"/>
          <p:cNvSpPr txBox="1"/>
          <p:nvPr/>
        </p:nvSpPr>
        <p:spPr>
          <a:xfrm>
            <a:off x="3087563" y="320040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Organizacja</a:t>
            </a:r>
            <a:endParaRPr lang="en-US" sz="2100" dirty="0"/>
          </a:p>
        </p:txBody>
      </p:sp>
      <p:sp>
        <p:nvSpPr>
          <p:cNvPr id="14" name="rola2-opis"/>
          <p:cNvSpPr txBox="1"/>
          <p:nvPr/>
        </p:nvSpPr>
        <p:spPr>
          <a:xfrm>
            <a:off x="3087563" y="3703320"/>
            <a:ext cx="1487363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Zgłasza rozwiązanie, rozwija je z AI i pisze wniosek o grant</a:t>
            </a:r>
            <a:endParaRPr lang="en-US" sz="1500" dirty="0"/>
          </a:p>
        </p:txBody>
      </p:sp>
      <p:sp>
        <p:nvSpPr>
          <p:cNvPr id="15" name="rola2-moduly"/>
          <p:cNvSpPr/>
          <p:nvPr/>
        </p:nvSpPr>
        <p:spPr>
          <a:xfrm>
            <a:off x="3087563" y="5349240"/>
            <a:ext cx="1487363" cy="384048"/>
          </a:xfrm>
          <a:prstGeom prst="roundRect">
            <a:avLst>
              <a:gd name="adj" fmla="val 35714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Moduły III · IV</a:t>
            </a:r>
            <a:endParaRPr lang="en-US" sz="1200" dirty="0"/>
          </a:p>
        </p:txBody>
      </p:sp>
      <p:sp>
        <p:nvSpPr>
          <p:cNvPr id="16" name="rola3-karta"/>
          <p:cNvSpPr/>
          <p:nvPr/>
        </p:nvSpPr>
        <p:spPr>
          <a:xfrm>
            <a:off x="5077846" y="1874520"/>
            <a:ext cx="2036003" cy="4160520"/>
          </a:xfrm>
          <a:prstGeom prst="roundRect">
            <a:avLst>
              <a:gd name="adj" fmla="val 8084"/>
            </a:avLst>
          </a:prstGeom>
          <a:solidFill>
            <a:schemeClr val="bg2"/>
          </a:solidFill>
          <a:ln/>
        </p:spPr>
      </p:sp>
      <p:sp>
        <p:nvSpPr>
          <p:cNvPr id="17" name="rola3-kolo"/>
          <p:cNvSpPr/>
          <p:nvPr/>
        </p:nvSpPr>
        <p:spPr>
          <a:xfrm>
            <a:off x="5352166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rola3-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46" y="2377440"/>
            <a:ext cx="411480" cy="411480"/>
          </a:xfrm>
          <a:prstGeom prst="rect">
            <a:avLst/>
          </a:prstGeom>
        </p:spPr>
      </p:pic>
      <p:sp>
        <p:nvSpPr>
          <p:cNvPr id="19" name="rola3-nazwa"/>
          <p:cNvSpPr txBox="1"/>
          <p:nvPr/>
        </p:nvSpPr>
        <p:spPr>
          <a:xfrm>
            <a:off x="5352166" y="320040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Samorząd</a:t>
            </a:r>
            <a:endParaRPr lang="en-US" sz="2100" dirty="0"/>
          </a:p>
        </p:txBody>
      </p:sp>
      <p:sp>
        <p:nvSpPr>
          <p:cNvPr id="20" name="rola3-opis"/>
          <p:cNvSpPr txBox="1"/>
          <p:nvPr/>
        </p:nvSpPr>
        <p:spPr>
          <a:xfrm>
            <a:off x="5352166" y="3703320"/>
            <a:ext cx="1487363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Znajduje gotowe rozwiązanie i dostosowuje je do swojej gminy</a:t>
            </a:r>
            <a:endParaRPr lang="en-US" sz="1500" dirty="0"/>
          </a:p>
        </p:txBody>
      </p:sp>
      <p:sp>
        <p:nvSpPr>
          <p:cNvPr id="21" name="rola3-moduly"/>
          <p:cNvSpPr/>
          <p:nvPr/>
        </p:nvSpPr>
        <p:spPr>
          <a:xfrm>
            <a:off x="5352166" y="5349240"/>
            <a:ext cx="1487363" cy="384048"/>
          </a:xfrm>
          <a:prstGeom prst="roundRect">
            <a:avLst>
              <a:gd name="adj" fmla="val 35714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Moduły II · VII</a:t>
            </a:r>
            <a:endParaRPr lang="en-US" sz="1200" dirty="0"/>
          </a:p>
        </p:txBody>
      </p:sp>
      <p:sp>
        <p:nvSpPr>
          <p:cNvPr id="22" name="rola4-karta"/>
          <p:cNvSpPr/>
          <p:nvPr/>
        </p:nvSpPr>
        <p:spPr>
          <a:xfrm>
            <a:off x="7342449" y="1874520"/>
            <a:ext cx="2036003" cy="4160520"/>
          </a:xfrm>
          <a:prstGeom prst="roundRect">
            <a:avLst>
              <a:gd name="adj" fmla="val 8084"/>
            </a:avLst>
          </a:prstGeom>
          <a:solidFill>
            <a:schemeClr val="bg2"/>
          </a:solidFill>
          <a:ln/>
        </p:spPr>
      </p:sp>
      <p:sp>
        <p:nvSpPr>
          <p:cNvPr id="23" name="rola4-kolo"/>
          <p:cNvSpPr/>
          <p:nvPr/>
        </p:nvSpPr>
        <p:spPr>
          <a:xfrm>
            <a:off x="7616769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rola4-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649" y="2377440"/>
            <a:ext cx="411480" cy="411480"/>
          </a:xfrm>
          <a:prstGeom prst="rect">
            <a:avLst/>
          </a:prstGeom>
        </p:spPr>
      </p:pic>
      <p:sp>
        <p:nvSpPr>
          <p:cNvPr id="25" name="rola4-nazwa"/>
          <p:cNvSpPr txBox="1"/>
          <p:nvPr/>
        </p:nvSpPr>
        <p:spPr>
          <a:xfrm>
            <a:off x="7616769" y="320040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Ekspert</a:t>
            </a:r>
            <a:endParaRPr lang="en-US" sz="2100" dirty="0"/>
          </a:p>
        </p:txBody>
      </p:sp>
      <p:sp>
        <p:nvSpPr>
          <p:cNvPr id="26" name="rola4-opis"/>
          <p:cNvSpPr txBox="1"/>
          <p:nvPr/>
        </p:nvSpPr>
        <p:spPr>
          <a:xfrm>
            <a:off x="7616769" y="3703320"/>
            <a:ext cx="1487363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Ocenia innowacje, żeby gminy wiedziały, co warto wdrażać</a:t>
            </a:r>
            <a:endParaRPr lang="en-US" sz="1500" dirty="0"/>
          </a:p>
        </p:txBody>
      </p:sp>
      <p:sp>
        <p:nvSpPr>
          <p:cNvPr id="27" name="rola4-moduly"/>
          <p:cNvSpPr/>
          <p:nvPr/>
        </p:nvSpPr>
        <p:spPr>
          <a:xfrm>
            <a:off x="7616769" y="5349240"/>
            <a:ext cx="1487363" cy="384048"/>
          </a:xfrm>
          <a:prstGeom prst="roundRect">
            <a:avLst>
              <a:gd name="adj" fmla="val 35714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Moduł IV</a:t>
            </a:r>
            <a:endParaRPr lang="en-US" sz="1200" dirty="0"/>
          </a:p>
        </p:txBody>
      </p:sp>
      <p:sp>
        <p:nvSpPr>
          <p:cNvPr id="28" name="rola5-karta"/>
          <p:cNvSpPr/>
          <p:nvPr/>
        </p:nvSpPr>
        <p:spPr>
          <a:xfrm>
            <a:off x="9607052" y="1874520"/>
            <a:ext cx="2036003" cy="4160520"/>
          </a:xfrm>
          <a:prstGeom prst="roundRect">
            <a:avLst>
              <a:gd name="adj" fmla="val 8084"/>
            </a:avLst>
          </a:prstGeom>
          <a:solidFill>
            <a:schemeClr val="bg2"/>
          </a:solidFill>
          <a:ln/>
        </p:spPr>
      </p:sp>
      <p:sp>
        <p:nvSpPr>
          <p:cNvPr id="29" name="rola5-kolo"/>
          <p:cNvSpPr/>
          <p:nvPr/>
        </p:nvSpPr>
        <p:spPr>
          <a:xfrm>
            <a:off x="9881372" y="21945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rola5-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4252" y="2377440"/>
            <a:ext cx="411480" cy="411480"/>
          </a:xfrm>
          <a:prstGeom prst="rect">
            <a:avLst/>
          </a:prstGeom>
        </p:spPr>
      </p:pic>
      <p:sp>
        <p:nvSpPr>
          <p:cNvPr id="31" name="rola5-nazwa"/>
          <p:cNvSpPr txBox="1"/>
          <p:nvPr/>
        </p:nvSpPr>
        <p:spPr>
          <a:xfrm>
            <a:off x="9881372" y="3200400"/>
            <a:ext cx="1487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ROPS</a:t>
            </a:r>
            <a:endParaRPr lang="en-US" sz="2100" dirty="0"/>
          </a:p>
        </p:txBody>
      </p:sp>
      <p:sp>
        <p:nvSpPr>
          <p:cNvPr id="32" name="rola5-opis"/>
          <p:cNvSpPr txBox="1"/>
          <p:nvPr/>
        </p:nvSpPr>
        <p:spPr>
          <a:xfrm>
            <a:off x="9881372" y="3703320"/>
            <a:ext cx="1487363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Weryfikuje innowacje, odpowiada na wiadomości, prowadzi nabory</a:t>
            </a:r>
            <a:endParaRPr lang="en-US" sz="1500" dirty="0"/>
          </a:p>
        </p:txBody>
      </p:sp>
      <p:sp>
        <p:nvSpPr>
          <p:cNvPr id="33" name="rola5-moduly"/>
          <p:cNvSpPr/>
          <p:nvPr/>
        </p:nvSpPr>
        <p:spPr>
          <a:xfrm>
            <a:off x="9881372" y="5349240"/>
            <a:ext cx="1487363" cy="384048"/>
          </a:xfrm>
          <a:prstGeom prst="roundRect">
            <a:avLst>
              <a:gd name="adj" fmla="val 35714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Moduły V · VI</a:t>
            </a:r>
            <a:endParaRPr lang="en-US" sz="1200" dirty="0"/>
          </a:p>
        </p:txBody>
      </p:sp>
      <p:sp>
        <p:nvSpPr>
          <p:cNvPr id="34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1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70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300"/>
                            </p:stCondLst>
                            <p:childTnLst>
                              <p:par>
                                <p:cTn id="10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2900"/>
                            </p:stCondLst>
                            <p:childTnLst>
                              <p:par>
                                <p:cTn id="1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 sama innowacja, inny widok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Przełączasz rolę w nagłówku — przyciski przy innowacji zmieniają się od razu</a:t>
            </a:r>
            <a:endParaRPr lang="en-US" sz="1800" dirty="0"/>
          </a:p>
        </p:txBody>
      </p:sp>
      <p:sp>
        <p:nvSpPr>
          <p:cNvPr id="4" name="Zrzut 1"/>
          <p:cNvSpPr>
            <a:spLocks noGrp="1"/>
          </p:cNvSpPr>
          <p:nvPr>
            <p:ph type="pic" idx="102"/>
          </p:nvPr>
        </p:nvSpPr>
        <p:spPr/>
      </p:sp>
      <p:sp>
        <p:nvSpPr>
          <p:cNvPr id="5" name="widok1-podpis"/>
          <p:cNvSpPr txBox="1"/>
          <p:nvPr/>
        </p:nvSpPr>
        <p:spPr>
          <a:xfrm>
            <a:off x="548640" y="4846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Mieszkaniec widzi</a:t>
            </a:r>
            <a:endParaRPr lang="en-US" sz="1500" dirty="0"/>
          </a:p>
        </p:txBody>
      </p:sp>
      <p:sp>
        <p:nvSpPr>
          <p:cNvPr id="6" name="widok1-przycisk"/>
          <p:cNvSpPr/>
          <p:nvPr/>
        </p:nvSpPr>
        <p:spPr>
          <a:xfrm>
            <a:off x="548640" y="5257800"/>
            <a:ext cx="3454298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Zgłoś się do testu</a:t>
            </a:r>
            <a:endParaRPr lang="en-US" sz="1700" dirty="0"/>
          </a:p>
        </p:txBody>
      </p:sp>
      <p:sp>
        <p:nvSpPr>
          <p:cNvPr id="7" name="Zrzut 2"/>
          <p:cNvSpPr>
            <a:spLocks noGrp="1"/>
          </p:cNvSpPr>
          <p:nvPr>
            <p:ph type="pic" idx="103"/>
          </p:nvPr>
        </p:nvSpPr>
        <p:spPr/>
      </p:sp>
      <p:sp>
        <p:nvSpPr>
          <p:cNvPr id="8" name="widok2-podpis"/>
          <p:cNvSpPr txBox="1"/>
          <p:nvPr/>
        </p:nvSpPr>
        <p:spPr>
          <a:xfrm>
            <a:off x="4368698" y="4846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Samorząd widzi</a:t>
            </a:r>
            <a:endParaRPr lang="en-US" sz="1500" dirty="0"/>
          </a:p>
        </p:txBody>
      </p:sp>
      <p:sp>
        <p:nvSpPr>
          <p:cNvPr id="9" name="widok2-przycisk"/>
          <p:cNvSpPr/>
          <p:nvPr/>
        </p:nvSpPr>
        <p:spPr>
          <a:xfrm>
            <a:off x="4368698" y="5257800"/>
            <a:ext cx="3454298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Dostosuj do mojej gminy</a:t>
            </a:r>
            <a:endParaRPr lang="en-US" sz="1700" dirty="0"/>
          </a:p>
        </p:txBody>
      </p:sp>
      <p:sp>
        <p:nvSpPr>
          <p:cNvPr id="10" name="Zrzut 3"/>
          <p:cNvSpPr>
            <a:spLocks noGrp="1"/>
          </p:cNvSpPr>
          <p:nvPr>
            <p:ph type="pic" idx="104"/>
          </p:nvPr>
        </p:nvSpPr>
        <p:spPr/>
      </p:sp>
      <p:sp>
        <p:nvSpPr>
          <p:cNvPr id="11" name="widok3-podpis"/>
          <p:cNvSpPr txBox="1"/>
          <p:nvPr/>
        </p:nvSpPr>
        <p:spPr>
          <a:xfrm>
            <a:off x="8188757" y="4846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Ekspert widzi</a:t>
            </a:r>
            <a:endParaRPr lang="en-US" sz="1500" dirty="0"/>
          </a:p>
        </p:txBody>
      </p:sp>
      <p:sp>
        <p:nvSpPr>
          <p:cNvPr id="12" name="widok3-przycisk"/>
          <p:cNvSpPr/>
          <p:nvPr/>
        </p:nvSpPr>
        <p:spPr>
          <a:xfrm>
            <a:off x="8188757" y="5257800"/>
            <a:ext cx="3454298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Dodaj opinię eksperta</a:t>
            </a:r>
            <a:endParaRPr lang="en-US" sz="1700" dirty="0"/>
          </a:p>
        </p:txBody>
      </p:sp>
      <p:sp>
        <p:nvSpPr>
          <p:cNvPr id="26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00"/>
                            </p:stCondLst>
                            <p:childTnLst>
                              <p:par>
                                <p:cTn id="4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Jak działają role</a:t>
            </a:r>
            <a:endParaRPr lang="en-US" sz="3600" dirty="0"/>
          </a:p>
        </p:txBody>
      </p:sp>
      <p:sp>
        <p:nvSpPr>
          <p:cNvPr id="3" name="Zrzut ekranu"/>
          <p:cNvSpPr>
            <a:spLocks noGrp="1"/>
          </p:cNvSpPr>
          <p:nvPr>
            <p:ph type="pic" idx="101"/>
          </p:nvPr>
        </p:nvSpPr>
        <p:spPr/>
      </p:sp>
      <p:sp>
        <p:nvSpPr>
          <p:cNvPr id="4" name="krok1-kolo"/>
          <p:cNvSpPr/>
          <p:nvPr/>
        </p:nvSpPr>
        <p:spPr>
          <a:xfrm>
            <a:off x="548640" y="15544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krok1-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11480" cy="411480"/>
          </a:xfrm>
          <a:prstGeom prst="rect">
            <a:avLst/>
          </a:prstGeom>
        </p:spPr>
      </p:pic>
      <p:sp>
        <p:nvSpPr>
          <p:cNvPr id="6" name="krok1-tytul"/>
          <p:cNvSpPr txBox="1"/>
          <p:nvPr/>
        </p:nvSpPr>
        <p:spPr>
          <a:xfrm>
            <a:off x="1600200" y="15361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Wybierz rolę</a:t>
            </a:r>
            <a:endParaRPr lang="en-US" sz="2200" dirty="0"/>
          </a:p>
        </p:txBody>
      </p:sp>
      <p:sp>
        <p:nvSpPr>
          <p:cNvPr id="7" name="krok1-opis"/>
          <p:cNvSpPr txBox="1"/>
          <p:nvPr/>
        </p:nvSpPr>
        <p:spPr>
          <a:xfrm>
            <a:off x="160020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Przełącznik „Jestem…” w nagłówku, na telefonie w menu</a:t>
            </a:r>
            <a:endParaRPr lang="en-US" sz="1600" dirty="0"/>
          </a:p>
        </p:txBody>
      </p:sp>
      <p:sp>
        <p:nvSpPr>
          <p:cNvPr id="8" name="krok2-kolo"/>
          <p:cNvSpPr/>
          <p:nvPr/>
        </p:nvSpPr>
        <p:spPr>
          <a:xfrm>
            <a:off x="548640" y="288036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krok2-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063240"/>
            <a:ext cx="411480" cy="411480"/>
          </a:xfrm>
          <a:prstGeom prst="rect">
            <a:avLst/>
          </a:prstGeom>
        </p:spPr>
      </p:pic>
      <p:sp>
        <p:nvSpPr>
          <p:cNvPr id="10" name="krok2-tytul"/>
          <p:cNvSpPr txBox="1"/>
          <p:nvPr/>
        </p:nvSpPr>
        <p:spPr>
          <a:xfrm>
            <a:off x="1600200" y="286207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Widok się dopasowuje</a:t>
            </a:r>
            <a:endParaRPr lang="en-US" sz="2200" dirty="0"/>
          </a:p>
        </p:txBody>
      </p:sp>
      <p:sp>
        <p:nvSpPr>
          <p:cNvPr id="11" name="krok2-opis"/>
          <p:cNvSpPr txBox="1"/>
          <p:nvPr/>
        </p:nvSpPr>
        <p:spPr>
          <a:xfrm>
            <a:off x="160020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Inny opis, główny przycisk i działania przy każdej innowacji</a:t>
            </a:r>
            <a:endParaRPr lang="en-US" sz="1600" dirty="0"/>
          </a:p>
        </p:txBody>
      </p:sp>
      <p:sp>
        <p:nvSpPr>
          <p:cNvPr id="12" name="krok3-kolo"/>
          <p:cNvSpPr/>
          <p:nvPr/>
        </p:nvSpPr>
        <p:spPr>
          <a:xfrm>
            <a:off x="548640" y="42062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krok3-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389120"/>
            <a:ext cx="411480" cy="411480"/>
          </a:xfrm>
          <a:prstGeom prst="rect">
            <a:avLst/>
          </a:prstGeom>
        </p:spPr>
      </p:pic>
      <p:sp>
        <p:nvSpPr>
          <p:cNvPr id="14" name="krok3-tytul"/>
          <p:cNvSpPr txBox="1"/>
          <p:nvPr/>
        </p:nvSpPr>
        <p:spPr>
          <a:xfrm>
            <a:off x="1600200" y="4187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Po wdrożeniu: logowanie</a:t>
            </a:r>
            <a:endParaRPr lang="en-US" sz="2200" dirty="0"/>
          </a:p>
        </p:txBody>
      </p:sp>
      <p:sp>
        <p:nvSpPr>
          <p:cNvPr id="15" name="krok3-opis"/>
          <p:cNvSpPr txBox="1"/>
          <p:nvPr/>
        </p:nvSpPr>
        <p:spPr>
          <a:xfrm>
            <a:off x="1600200" y="4617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Rolę i uprawnienia ustali konto użytkownika</a:t>
            </a:r>
            <a:endParaRPr lang="en-US" sz="1600" dirty="0"/>
          </a:p>
        </p:txBody>
      </p:sp>
      <p:sp>
        <p:nvSpPr>
          <p:cNvPr id="16" name="haslo"/>
          <p:cNvSpPr txBox="1"/>
          <p:nvPr/>
        </p:nvSpPr>
        <p:spPr>
          <a:xfrm>
            <a:off x="548640" y="57150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Jedna platforma, pięć ścieżek — nie wymyślaj koła na nowo</a:t>
            </a:r>
            <a:endParaRPr lang="en-US" sz="1800" dirty="0"/>
          </a:p>
        </p:txBody>
      </p:sp>
      <p:sp>
        <p:nvSpPr>
          <p:cNvPr id="26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10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70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10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3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Jak to zbudowaliśmy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Nowoczesna aplikacja webowa: działa w przeglądarce, bez instalacji</a:t>
            </a:r>
            <a:endParaRPr lang="en-US" sz="1800" dirty="0"/>
          </a:p>
        </p:txBody>
      </p:sp>
      <p:sp>
        <p:nvSpPr>
          <p:cNvPr id="4" name="przegladarka-karta"/>
          <p:cNvSpPr/>
          <p:nvPr/>
        </p:nvSpPr>
        <p:spPr>
          <a:xfrm>
            <a:off x="548640" y="1828800"/>
            <a:ext cx="3063240" cy="3611880"/>
          </a:xfrm>
          <a:prstGeom prst="roundRect">
            <a:avLst>
              <a:gd name="adj" fmla="val 5373"/>
            </a:avLst>
          </a:prstGeom>
          <a:solidFill>
            <a:schemeClr val="bg2"/>
          </a:solidFill>
          <a:ln/>
        </p:spPr>
      </p:sp>
      <p:sp>
        <p:nvSpPr>
          <p:cNvPr id="5" name="przegladarka-kolo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przegladarka-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278685"/>
            <a:ext cx="380390" cy="380390"/>
          </a:xfrm>
          <a:prstGeom prst="rect">
            <a:avLst/>
          </a:prstGeom>
        </p:spPr>
      </p:pic>
      <p:sp>
        <p:nvSpPr>
          <p:cNvPr id="7" name="przegladarka-tytul"/>
          <p:cNvSpPr txBox="1"/>
          <p:nvPr/>
        </p:nvSpPr>
        <p:spPr>
          <a:xfrm>
            <a:off x="822960" y="2971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Przeglądarka</a:t>
            </a:r>
            <a:endParaRPr lang="en-US" sz="2100" dirty="0"/>
          </a:p>
        </p:txBody>
      </p:sp>
      <p:sp>
        <p:nvSpPr>
          <p:cNvPr id="8" name="przegladarka-opis"/>
          <p:cNvSpPr txBox="1"/>
          <p:nvPr/>
        </p:nvSpPr>
        <p:spPr>
          <a:xfrm>
            <a:off x="822960" y="347472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Mieszkaniec, gmina, ROPS — na komputerze i telefonie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Dyktowanie: Web Speech API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Mapa: Leaflet + OpenStreetMap</a:t>
            </a:r>
            <a:endParaRPr lang="en-US" sz="1500" dirty="0"/>
          </a:p>
        </p:txBody>
      </p:sp>
      <p:sp>
        <p:nvSpPr>
          <p:cNvPr id="9" name="next-karta"/>
          <p:cNvSpPr/>
          <p:nvPr/>
        </p:nvSpPr>
        <p:spPr>
          <a:xfrm>
            <a:off x="4206240" y="1828800"/>
            <a:ext cx="3474720" cy="3611880"/>
          </a:xfrm>
          <a:prstGeom prst="roundRect">
            <a:avLst>
              <a:gd name="adj" fmla="val 4737"/>
            </a:avLst>
          </a:prstGeom>
          <a:solidFill>
            <a:schemeClr val="accent1"/>
          </a:solidFill>
          <a:ln/>
        </p:spPr>
      </p:sp>
      <p:sp>
        <p:nvSpPr>
          <p:cNvPr id="10" name="next-kolo"/>
          <p:cNvSpPr/>
          <p:nvPr/>
        </p:nvSpPr>
        <p:spPr>
          <a:xfrm>
            <a:off x="4480560" y="2103120"/>
            <a:ext cx="731520" cy="7315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1" name="next-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25" y="2278685"/>
            <a:ext cx="380390" cy="380390"/>
          </a:xfrm>
          <a:prstGeom prst="rect">
            <a:avLst/>
          </a:prstGeom>
        </p:spPr>
      </p:pic>
      <p:sp>
        <p:nvSpPr>
          <p:cNvPr id="12" name="next-tytul"/>
          <p:cNvSpPr txBox="1"/>
          <p:nvPr/>
        </p:nvSpPr>
        <p:spPr>
          <a:xfrm>
            <a:off x="4480560" y="2971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Next.js 16</a:t>
            </a:r>
            <a:endParaRPr lang="en-US" sz="2100" dirty="0"/>
          </a:p>
        </p:txBody>
      </p:sp>
      <p:sp>
        <p:nvSpPr>
          <p:cNvPr id="13" name="next-opis"/>
          <p:cNvSpPr txBox="1"/>
          <p:nvPr/>
        </p:nvSpPr>
        <p:spPr>
          <a:xfrm>
            <a:off x="4480560" y="3474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Server Components: strony gotowe już na serwerze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Server Actions: zapis i AI bez osobnego API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TypeScript · Tailwind 4 · shadcn/ui</a:t>
            </a:r>
            <a:endParaRPr lang="en-US" sz="1500" dirty="0"/>
          </a:p>
        </p:txBody>
      </p:sp>
      <p:sp>
        <p:nvSpPr>
          <p:cNvPr id="14" name="strzalka-przegladarka"/>
          <p:cNvSpPr/>
          <p:nvPr/>
        </p:nvSpPr>
        <p:spPr>
          <a:xfrm>
            <a:off x="3703320" y="3634740"/>
            <a:ext cx="41148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15" name="usluga1-karta"/>
          <p:cNvSpPr/>
          <p:nvPr/>
        </p:nvSpPr>
        <p:spPr>
          <a:xfrm>
            <a:off x="8275320" y="1828800"/>
            <a:ext cx="3367735" cy="786384"/>
          </a:xfrm>
          <a:prstGeom prst="roundRect">
            <a:avLst>
              <a:gd name="adj" fmla="val 16279"/>
            </a:avLst>
          </a:prstGeom>
          <a:solidFill>
            <a:schemeClr val="bg2"/>
          </a:solidFill>
          <a:ln/>
        </p:spPr>
      </p:sp>
      <p:sp>
        <p:nvSpPr>
          <p:cNvPr id="16" name="usluga1-kolo"/>
          <p:cNvSpPr/>
          <p:nvPr/>
        </p:nvSpPr>
        <p:spPr>
          <a:xfrm>
            <a:off x="8439912" y="196596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usluga1-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2807" y="2088855"/>
            <a:ext cx="266273" cy="266273"/>
          </a:xfrm>
          <a:prstGeom prst="rect">
            <a:avLst/>
          </a:prstGeom>
        </p:spPr>
      </p:pic>
      <p:sp>
        <p:nvSpPr>
          <p:cNvPr id="18" name="usluga1-opis"/>
          <p:cNvSpPr txBox="1"/>
          <p:nvPr/>
        </p:nvSpPr>
        <p:spPr>
          <a:xfrm>
            <a:off x="9098280" y="1920240"/>
            <a:ext cx="24533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Supabase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Postgres + pgvector</a:t>
            </a:r>
            <a:endParaRPr lang="en-US" sz="1600" dirty="0"/>
          </a:p>
        </p:txBody>
      </p:sp>
      <p:sp>
        <p:nvSpPr>
          <p:cNvPr id="19" name="usluga1-strzalka"/>
          <p:cNvSpPr/>
          <p:nvPr/>
        </p:nvSpPr>
        <p:spPr>
          <a:xfrm>
            <a:off x="7754112" y="2221992"/>
            <a:ext cx="448056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usluga2-karta"/>
          <p:cNvSpPr/>
          <p:nvPr/>
        </p:nvSpPr>
        <p:spPr>
          <a:xfrm>
            <a:off x="8275320" y="2770632"/>
            <a:ext cx="3367735" cy="786384"/>
          </a:xfrm>
          <a:prstGeom prst="roundRect">
            <a:avLst>
              <a:gd name="adj" fmla="val 16279"/>
            </a:avLst>
          </a:prstGeom>
          <a:solidFill>
            <a:schemeClr val="bg2"/>
          </a:solidFill>
          <a:ln/>
        </p:spPr>
      </p:sp>
      <p:sp>
        <p:nvSpPr>
          <p:cNvPr id="21" name="usluga2-kolo"/>
          <p:cNvSpPr/>
          <p:nvPr/>
        </p:nvSpPr>
        <p:spPr>
          <a:xfrm>
            <a:off x="8439912" y="2907792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usluga2-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2807" y="3030687"/>
            <a:ext cx="266273" cy="266273"/>
          </a:xfrm>
          <a:prstGeom prst="rect">
            <a:avLst/>
          </a:prstGeom>
        </p:spPr>
      </p:pic>
      <p:sp>
        <p:nvSpPr>
          <p:cNvPr id="23" name="usluga2-opis"/>
          <p:cNvSpPr txBox="1"/>
          <p:nvPr/>
        </p:nvSpPr>
        <p:spPr>
          <a:xfrm>
            <a:off x="9098280" y="2862072"/>
            <a:ext cx="24533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Google Gemini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analiza tekstu i embeddingi</a:t>
            </a:r>
            <a:endParaRPr lang="en-US" sz="1600" dirty="0"/>
          </a:p>
        </p:txBody>
      </p:sp>
      <p:sp>
        <p:nvSpPr>
          <p:cNvPr id="24" name="usluga2-strzalka"/>
          <p:cNvSpPr/>
          <p:nvPr/>
        </p:nvSpPr>
        <p:spPr>
          <a:xfrm>
            <a:off x="7754112" y="3163824"/>
            <a:ext cx="448056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usluga3-karta"/>
          <p:cNvSpPr/>
          <p:nvPr/>
        </p:nvSpPr>
        <p:spPr>
          <a:xfrm>
            <a:off x="8275320" y="3712464"/>
            <a:ext cx="3367735" cy="786384"/>
          </a:xfrm>
          <a:prstGeom prst="roundRect">
            <a:avLst>
              <a:gd name="adj" fmla="val 16279"/>
            </a:avLst>
          </a:prstGeom>
          <a:solidFill>
            <a:schemeClr val="bg2"/>
          </a:solidFill>
          <a:ln/>
        </p:spPr>
      </p:sp>
      <p:sp>
        <p:nvSpPr>
          <p:cNvPr id="26" name="usluga3-kolo"/>
          <p:cNvSpPr/>
          <p:nvPr/>
        </p:nvSpPr>
        <p:spPr>
          <a:xfrm>
            <a:off x="8439912" y="3849624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usluga3-ik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2807" y="3972519"/>
            <a:ext cx="266273" cy="266273"/>
          </a:xfrm>
          <a:prstGeom prst="rect">
            <a:avLst/>
          </a:prstGeom>
        </p:spPr>
      </p:pic>
      <p:sp>
        <p:nvSpPr>
          <p:cNvPr id="28" name="usluga3-opis"/>
          <p:cNvSpPr txBox="1"/>
          <p:nvPr/>
        </p:nvSpPr>
        <p:spPr>
          <a:xfrm>
            <a:off x="9098280" y="3803904"/>
            <a:ext cx="24533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Resend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e-maile z Panelu ROPS</a:t>
            </a:r>
            <a:endParaRPr lang="en-US" sz="1600" dirty="0"/>
          </a:p>
        </p:txBody>
      </p:sp>
      <p:sp>
        <p:nvSpPr>
          <p:cNvPr id="29" name="usluga3-strzalka"/>
          <p:cNvSpPr/>
          <p:nvPr/>
        </p:nvSpPr>
        <p:spPr>
          <a:xfrm>
            <a:off x="7754112" y="4105656"/>
            <a:ext cx="448056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0" name="usluga4-karta"/>
          <p:cNvSpPr/>
          <p:nvPr/>
        </p:nvSpPr>
        <p:spPr>
          <a:xfrm>
            <a:off x="8275320" y="4654296"/>
            <a:ext cx="3367735" cy="786384"/>
          </a:xfrm>
          <a:prstGeom prst="roundRect">
            <a:avLst>
              <a:gd name="adj" fmla="val 16279"/>
            </a:avLst>
          </a:prstGeom>
          <a:solidFill>
            <a:schemeClr val="bg2"/>
          </a:solidFill>
          <a:ln/>
        </p:spPr>
      </p:sp>
      <p:sp>
        <p:nvSpPr>
          <p:cNvPr id="31" name="usluga4-kolo"/>
          <p:cNvSpPr/>
          <p:nvPr/>
        </p:nvSpPr>
        <p:spPr>
          <a:xfrm>
            <a:off x="8439912" y="4791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2" name="usluga4-ikona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807" y="4914351"/>
            <a:ext cx="266273" cy="266273"/>
          </a:xfrm>
          <a:prstGeom prst="rect">
            <a:avLst/>
          </a:prstGeom>
        </p:spPr>
      </p:pic>
      <p:sp>
        <p:nvSpPr>
          <p:cNvPr id="33" name="usluga4-opis"/>
          <p:cNvSpPr txBox="1"/>
          <p:nvPr/>
        </p:nvSpPr>
        <p:spPr>
          <a:xfrm>
            <a:off x="9098280" y="4745736"/>
            <a:ext cx="24533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OpenStreetMap Nominatim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wyszukiwanie adresów</a:t>
            </a:r>
            <a:endParaRPr lang="en-US" sz="1600" dirty="0"/>
          </a:p>
        </p:txBody>
      </p:sp>
      <p:sp>
        <p:nvSpPr>
          <p:cNvPr id="34" name="usluga4-strzalka"/>
          <p:cNvSpPr/>
          <p:nvPr/>
        </p:nvSpPr>
        <p:spPr>
          <a:xfrm>
            <a:off x="7754112" y="5047488"/>
            <a:ext cx="448056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hosting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Hosting: Vercel · klucze do bazy i AI tylko po stronie serwera</a:t>
            </a:r>
            <a:endParaRPr lang="en-US" sz="1400" dirty="0"/>
          </a:p>
        </p:txBody>
      </p:sp>
      <p:sp>
        <p:nvSpPr>
          <p:cNvPr id="36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1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35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70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3050"/>
                            </p:stCondLst>
                            <p:childTnLst>
                              <p:par>
                                <p:cTn id="1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3400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14" grpId="0" animBg="1"/>
      <p:bldP spid="9" grpId="0" animBg="1"/>
      <p:bldP spid="10" grpId="0" animBg="1"/>
      <p:bldP spid="12" grpId="0" animBg="1"/>
      <p:bldP spid="13" grpId="0" animBg="1"/>
      <p:bldP spid="19" grpId="0" animBg="1"/>
      <p:bldP spid="15" grpId="0" animBg="1"/>
      <p:bldP spid="16" grpId="0" animBg="1"/>
      <p:bldP spid="18" grpId="0" animBg="1"/>
      <p:bldP spid="24" grpId="0" animBg="1"/>
      <p:bldP spid="20" grpId="0" animBg="1"/>
      <p:bldP spid="21" grpId="0" animBg="1"/>
      <p:bldP spid="23" grpId="0" animBg="1"/>
      <p:bldP spid="29" grpId="0" animBg="1"/>
      <p:bldP spid="25" grpId="0" animBg="1"/>
      <p:bldP spid="26" grpId="0" animBg="1"/>
      <p:bldP spid="28" grpId="0" animBg="1"/>
      <p:bldP spid="34" grpId="0" animBg="1"/>
      <p:bldP spid="30" grpId="0" animBg="1"/>
      <p:bldP spid="31" grpId="0" animBg="1"/>
      <p:bldP spid="33" grpId="0" animBg="1"/>
      <p:bldP spid="3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Jak AI dopasowuje innowacje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Szukamy po znaczeniu, a nie po słowach kluczowych</a:t>
            </a:r>
            <a:endParaRPr lang="en-US" sz="1800" dirty="0"/>
          </a:p>
        </p:txBody>
      </p:sp>
      <p:sp>
        <p:nvSpPr>
          <p:cNvPr id="4" name="krok1-karta"/>
          <p:cNvSpPr/>
          <p:nvPr/>
        </p:nvSpPr>
        <p:spPr>
          <a:xfrm>
            <a:off x="548640" y="1828800"/>
            <a:ext cx="2396414" cy="2697480"/>
          </a:xfrm>
          <a:prstGeom prst="roundRect">
            <a:avLst>
              <a:gd name="adj" fmla="val 6868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" name="krok1-kolo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krok1-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278685"/>
            <a:ext cx="380390" cy="380390"/>
          </a:xfrm>
          <a:prstGeom prst="rect">
            <a:avLst/>
          </a:prstGeom>
        </p:spPr>
      </p:pic>
      <p:sp>
        <p:nvSpPr>
          <p:cNvPr id="7" name="krok1-tytul"/>
          <p:cNvSpPr txBox="1"/>
          <p:nvPr/>
        </p:nvSpPr>
        <p:spPr>
          <a:xfrm>
            <a:off x="822960" y="2971800"/>
            <a:ext cx="19392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1. Opis problemu</a:t>
            </a:r>
            <a:endParaRPr lang="en-US" sz="1900" dirty="0"/>
          </a:p>
        </p:txBody>
      </p:sp>
      <p:sp>
        <p:nvSpPr>
          <p:cNvPr id="8" name="krok1-opis"/>
          <p:cNvSpPr txBox="1"/>
          <p:nvPr/>
        </p:nvSpPr>
        <p:spPr>
          <a:xfrm>
            <a:off x="822960" y="3657600"/>
            <a:ext cx="19392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Mieszkaniec pisze albo mówi własnymi słowami</a:t>
            </a:r>
            <a:endParaRPr lang="en-US" sz="1500" dirty="0"/>
          </a:p>
        </p:txBody>
      </p:sp>
      <p:sp>
        <p:nvSpPr>
          <p:cNvPr id="9" name="krok1-strzalka"/>
          <p:cNvSpPr/>
          <p:nvPr/>
        </p:nvSpPr>
        <p:spPr>
          <a:xfrm>
            <a:off x="3018206" y="3177540"/>
            <a:ext cx="356616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0" name="krok2-karta"/>
          <p:cNvSpPr/>
          <p:nvPr/>
        </p:nvSpPr>
        <p:spPr>
          <a:xfrm>
            <a:off x="3447974" y="1828800"/>
            <a:ext cx="2396414" cy="2697480"/>
          </a:xfrm>
          <a:prstGeom prst="roundRect">
            <a:avLst>
              <a:gd name="adj" fmla="val 6868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1" name="krok2-kolo"/>
          <p:cNvSpPr/>
          <p:nvPr/>
        </p:nvSpPr>
        <p:spPr>
          <a:xfrm>
            <a:off x="3722294" y="2103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krok2-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859" y="2278685"/>
            <a:ext cx="380390" cy="380390"/>
          </a:xfrm>
          <a:prstGeom prst="rect">
            <a:avLst/>
          </a:prstGeom>
        </p:spPr>
      </p:pic>
      <p:sp>
        <p:nvSpPr>
          <p:cNvPr id="13" name="krok2-tytul"/>
          <p:cNvSpPr txBox="1"/>
          <p:nvPr/>
        </p:nvSpPr>
        <p:spPr>
          <a:xfrm>
            <a:off x="3722294" y="2971800"/>
            <a:ext cx="19392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2. Wektor znaczenia</a:t>
            </a:r>
            <a:endParaRPr lang="en-US" sz="1900" dirty="0"/>
          </a:p>
        </p:txBody>
      </p:sp>
      <p:sp>
        <p:nvSpPr>
          <p:cNvPr id="14" name="krok2-opis"/>
          <p:cNvSpPr txBox="1"/>
          <p:nvPr/>
        </p:nvSpPr>
        <p:spPr>
          <a:xfrm>
            <a:off x="3722294" y="3657600"/>
            <a:ext cx="19392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Gemini zamienia opis na 768 liczb (embedding)</a:t>
            </a:r>
            <a:endParaRPr lang="en-US" sz="1500" dirty="0"/>
          </a:p>
        </p:txBody>
      </p:sp>
      <p:sp>
        <p:nvSpPr>
          <p:cNvPr id="15" name="krok2-strzalka"/>
          <p:cNvSpPr/>
          <p:nvPr/>
        </p:nvSpPr>
        <p:spPr>
          <a:xfrm>
            <a:off x="5917540" y="3177540"/>
            <a:ext cx="356616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krok3-karta"/>
          <p:cNvSpPr/>
          <p:nvPr/>
        </p:nvSpPr>
        <p:spPr>
          <a:xfrm>
            <a:off x="6347308" y="1828800"/>
            <a:ext cx="2396414" cy="2697480"/>
          </a:xfrm>
          <a:prstGeom prst="roundRect">
            <a:avLst>
              <a:gd name="adj" fmla="val 6868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7" name="krok3-kolo"/>
          <p:cNvSpPr/>
          <p:nvPr/>
        </p:nvSpPr>
        <p:spPr>
          <a:xfrm>
            <a:off x="6621628" y="2103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krok3-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192" y="2278685"/>
            <a:ext cx="380390" cy="380390"/>
          </a:xfrm>
          <a:prstGeom prst="rect">
            <a:avLst/>
          </a:prstGeom>
        </p:spPr>
      </p:pic>
      <p:sp>
        <p:nvSpPr>
          <p:cNvPr id="19" name="krok3-tytul"/>
          <p:cNvSpPr txBox="1"/>
          <p:nvPr/>
        </p:nvSpPr>
        <p:spPr>
          <a:xfrm>
            <a:off x="6621628" y="2971800"/>
            <a:ext cx="19392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3. Wyszukiwanie</a:t>
            </a:r>
            <a:endParaRPr lang="en-US" sz="1900" dirty="0"/>
          </a:p>
        </p:txBody>
      </p:sp>
      <p:sp>
        <p:nvSpPr>
          <p:cNvPr id="20" name="krok3-opis"/>
          <p:cNvSpPr txBox="1"/>
          <p:nvPr/>
        </p:nvSpPr>
        <p:spPr>
          <a:xfrm>
            <a:off x="6621628" y="3657600"/>
            <a:ext cx="19392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pgvector w Supabase znajduje innowacje o najbliższym znaczeniu</a:t>
            </a:r>
            <a:endParaRPr lang="en-US" sz="1500" dirty="0"/>
          </a:p>
        </p:txBody>
      </p:sp>
      <p:sp>
        <p:nvSpPr>
          <p:cNvPr id="21" name="krok3-strzalka"/>
          <p:cNvSpPr/>
          <p:nvPr/>
        </p:nvSpPr>
        <p:spPr>
          <a:xfrm>
            <a:off x="8816873" y="3177540"/>
            <a:ext cx="356616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2" name="krok4-karta"/>
          <p:cNvSpPr/>
          <p:nvPr/>
        </p:nvSpPr>
        <p:spPr>
          <a:xfrm>
            <a:off x="9246641" y="1828800"/>
            <a:ext cx="2396414" cy="2697480"/>
          </a:xfrm>
          <a:prstGeom prst="roundRect">
            <a:avLst>
              <a:gd name="adj" fmla="val 6868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3" name="krok4-kolo"/>
          <p:cNvSpPr/>
          <p:nvPr/>
        </p:nvSpPr>
        <p:spPr>
          <a:xfrm>
            <a:off x="9520961" y="2103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krok4-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526" y="2278685"/>
            <a:ext cx="380390" cy="380390"/>
          </a:xfrm>
          <a:prstGeom prst="rect">
            <a:avLst/>
          </a:prstGeom>
        </p:spPr>
      </p:pic>
      <p:sp>
        <p:nvSpPr>
          <p:cNvPr id="25" name="krok4-tytul"/>
          <p:cNvSpPr txBox="1"/>
          <p:nvPr/>
        </p:nvSpPr>
        <p:spPr>
          <a:xfrm>
            <a:off x="9520961" y="2971800"/>
            <a:ext cx="19392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4. Wynik</a:t>
            </a:r>
            <a:endParaRPr lang="en-US" sz="1900" dirty="0"/>
          </a:p>
        </p:txBody>
      </p:sp>
      <p:sp>
        <p:nvSpPr>
          <p:cNvPr id="26" name="krok4-opis"/>
          <p:cNvSpPr txBox="1"/>
          <p:nvPr/>
        </p:nvSpPr>
        <p:spPr>
          <a:xfrm>
            <a:off x="9520961" y="3657600"/>
            <a:ext cx="19392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Dopasowane innowacje i analiza zgłoszenia przez AI</a:t>
            </a:r>
            <a:endParaRPr lang="en-US" sz="1500" dirty="0"/>
          </a:p>
        </p:txBody>
      </p:sp>
      <p:sp>
        <p:nvSpPr>
          <p:cNvPr id="27" name="mechanizm-tytul"/>
          <p:cNvSpPr txBox="1"/>
          <p:nvPr/>
        </p:nvSpPr>
        <p:spPr>
          <a:xfrm>
            <a:off x="548640" y="4892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Ten sam mechanizm:</a:t>
            </a:r>
            <a:endParaRPr lang="en-US" sz="1700" dirty="0"/>
          </a:p>
        </p:txBody>
      </p:sp>
      <p:sp>
        <p:nvSpPr>
          <p:cNvPr id="28" name="mechanizm-1"/>
          <p:cNvSpPr/>
          <p:nvPr/>
        </p:nvSpPr>
        <p:spPr>
          <a:xfrm>
            <a:off x="3017520" y="4892040"/>
            <a:ext cx="40690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wykrywa duplikaty pomysłów w Kreatorze</a:t>
            </a:r>
            <a:endParaRPr lang="en-US" sz="1400" dirty="0"/>
          </a:p>
        </p:txBody>
      </p:sp>
      <p:sp>
        <p:nvSpPr>
          <p:cNvPr id="29" name="mechanizm-2"/>
          <p:cNvSpPr/>
          <p:nvPr/>
        </p:nvSpPr>
        <p:spPr>
          <a:xfrm>
            <a:off x="7269480" y="4892040"/>
            <a:ext cx="434340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pokazuje podobne zgłoszenia z innych gmin</a:t>
            </a:r>
            <a:endParaRPr lang="en-US" sz="1400" dirty="0"/>
          </a:p>
        </p:txBody>
      </p:sp>
      <p:sp>
        <p:nvSpPr>
          <p:cNvPr id="30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250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000"/>
                            </p:stCondLst>
                            <p:childTnLst>
                              <p:par>
                                <p:cTn id="7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5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750"/>
                            </p:stCondLst>
                            <p:childTnLst>
                              <p:par>
                                <p:cTn id="10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3250"/>
                            </p:stCondLst>
                            <p:childTnLst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Generatywne AI w praktyce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Gemini przygotowuje gotową treść, a człowiek ją sprawdza i poprawia</a:t>
            </a:r>
            <a:endParaRPr lang="en-US" sz="1800" dirty="0"/>
          </a:p>
        </p:txBody>
      </p:sp>
      <p:sp>
        <p:nvSpPr>
          <p:cNvPr id="4" name="ai1-karta"/>
          <p:cNvSpPr/>
          <p:nvPr/>
        </p:nvSpPr>
        <p:spPr>
          <a:xfrm>
            <a:off x="548640" y="1828800"/>
            <a:ext cx="5364328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/>
        </p:spPr>
      </p:sp>
      <p:sp>
        <p:nvSpPr>
          <p:cNvPr id="5" name="ai1-kolo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i1-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278685"/>
            <a:ext cx="380390" cy="380390"/>
          </a:xfrm>
          <a:prstGeom prst="rect">
            <a:avLst/>
          </a:prstGeom>
        </p:spPr>
      </p:pic>
      <p:sp>
        <p:nvSpPr>
          <p:cNvPr id="7" name="ai1-tytul"/>
          <p:cNvSpPr txBox="1"/>
          <p:nvPr/>
        </p:nvSpPr>
        <p:spPr>
          <a:xfrm>
            <a:off x="1783080" y="2084832"/>
            <a:ext cx="385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Analiza zgłoszenia</a:t>
            </a:r>
            <a:endParaRPr lang="en-US" sz="2000" dirty="0"/>
          </a:p>
        </p:txBody>
      </p:sp>
      <p:sp>
        <p:nvSpPr>
          <p:cNvPr id="8" name="ai1-opis"/>
          <p:cNvSpPr txBox="1"/>
          <p:nvPr/>
        </p:nvSpPr>
        <p:spPr>
          <a:xfrm>
            <a:off x="1783080" y="2542032"/>
            <a:ext cx="385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Kategoria, kluczowe wyzwania i rekomendacja dla ROPS</a:t>
            </a:r>
            <a:endParaRPr lang="en-US" sz="1600" dirty="0"/>
          </a:p>
        </p:txBody>
      </p:sp>
      <p:sp>
        <p:nvSpPr>
          <p:cNvPr id="9" name="ai1-gdzie"/>
          <p:cNvSpPr/>
          <p:nvPr/>
        </p:nvSpPr>
        <p:spPr>
          <a:xfrm>
            <a:off x="1783080" y="3154680"/>
            <a:ext cx="1920240" cy="347472"/>
          </a:xfrm>
          <a:prstGeom prst="roundRect">
            <a:avLst>
              <a:gd name="adj" fmla="val 52632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Zgłoś problem</a:t>
            </a:r>
            <a:endParaRPr lang="en-US" sz="1200" dirty="0"/>
          </a:p>
        </p:txBody>
      </p:sp>
      <p:sp>
        <p:nvSpPr>
          <p:cNvPr id="10" name="ai2-karta"/>
          <p:cNvSpPr/>
          <p:nvPr/>
        </p:nvSpPr>
        <p:spPr>
          <a:xfrm>
            <a:off x="6278728" y="1828800"/>
            <a:ext cx="5364328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/>
        </p:spPr>
      </p:sp>
      <p:sp>
        <p:nvSpPr>
          <p:cNvPr id="11" name="ai2-kolo"/>
          <p:cNvSpPr/>
          <p:nvPr/>
        </p:nvSpPr>
        <p:spPr>
          <a:xfrm>
            <a:off x="6553048" y="2103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ai2-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612" y="2278685"/>
            <a:ext cx="380390" cy="380390"/>
          </a:xfrm>
          <a:prstGeom prst="rect">
            <a:avLst/>
          </a:prstGeom>
        </p:spPr>
      </p:pic>
      <p:sp>
        <p:nvSpPr>
          <p:cNvPr id="13" name="ai2-tytul"/>
          <p:cNvSpPr txBox="1"/>
          <p:nvPr/>
        </p:nvSpPr>
        <p:spPr>
          <a:xfrm>
            <a:off x="7513168" y="2084832"/>
            <a:ext cx="385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Plan wdrożenia dla gminy</a:t>
            </a:r>
            <a:endParaRPr lang="en-US" sz="2000" dirty="0"/>
          </a:p>
        </p:txBody>
      </p:sp>
      <p:sp>
        <p:nvSpPr>
          <p:cNvPr id="14" name="ai2-opis"/>
          <p:cNvSpPr txBox="1"/>
          <p:nvPr/>
        </p:nvSpPr>
        <p:spPr>
          <a:xfrm>
            <a:off x="7513168" y="2542032"/>
            <a:ext cx="385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Kroki, możliwe bariery, budżet i wskaźniki sukcesu</a:t>
            </a:r>
            <a:endParaRPr lang="en-US" sz="1600" dirty="0"/>
          </a:p>
        </p:txBody>
      </p:sp>
      <p:sp>
        <p:nvSpPr>
          <p:cNvPr id="15" name="ai2-gdzie"/>
          <p:cNvSpPr/>
          <p:nvPr/>
        </p:nvSpPr>
        <p:spPr>
          <a:xfrm>
            <a:off x="7513168" y="3154680"/>
            <a:ext cx="1920240" cy="347472"/>
          </a:xfrm>
          <a:prstGeom prst="roundRect">
            <a:avLst>
              <a:gd name="adj" fmla="val 52632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Dostosuj do gminy</a:t>
            </a:r>
            <a:endParaRPr lang="en-US" sz="1200" dirty="0"/>
          </a:p>
        </p:txBody>
      </p:sp>
      <p:sp>
        <p:nvSpPr>
          <p:cNvPr id="16" name="ai3-karta"/>
          <p:cNvSpPr/>
          <p:nvPr/>
        </p:nvSpPr>
        <p:spPr>
          <a:xfrm>
            <a:off x="548640" y="3886200"/>
            <a:ext cx="5364328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/>
        </p:spPr>
      </p:sp>
      <p:sp>
        <p:nvSpPr>
          <p:cNvPr id="17" name="ai3-kolo"/>
          <p:cNvSpPr/>
          <p:nvPr/>
        </p:nvSpPr>
        <p:spPr>
          <a:xfrm>
            <a:off x="82296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ai3-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5" y="4336085"/>
            <a:ext cx="380390" cy="380390"/>
          </a:xfrm>
          <a:prstGeom prst="rect">
            <a:avLst/>
          </a:prstGeom>
        </p:spPr>
      </p:pic>
      <p:sp>
        <p:nvSpPr>
          <p:cNvPr id="19" name="ai3-tytul"/>
          <p:cNvSpPr txBox="1"/>
          <p:nvPr/>
        </p:nvSpPr>
        <p:spPr>
          <a:xfrm>
            <a:off x="1783080" y="4142232"/>
            <a:ext cx="385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Kanwa pomysłu</a:t>
            </a:r>
            <a:endParaRPr lang="en-US" sz="2000" dirty="0"/>
          </a:p>
        </p:txBody>
      </p:sp>
      <p:sp>
        <p:nvSpPr>
          <p:cNvPr id="20" name="ai3-opis"/>
          <p:cNvSpPr txBox="1"/>
          <p:nvPr/>
        </p:nvSpPr>
        <p:spPr>
          <a:xfrm>
            <a:off x="1783080" y="4599432"/>
            <a:ext cx="385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Opis pomysłu zamieniony na 5 pól kanwy innowacji ROPS</a:t>
            </a:r>
            <a:endParaRPr lang="en-US" sz="1600" dirty="0"/>
          </a:p>
        </p:txBody>
      </p:sp>
      <p:sp>
        <p:nvSpPr>
          <p:cNvPr id="21" name="ai3-gdzie"/>
          <p:cNvSpPr/>
          <p:nvPr/>
        </p:nvSpPr>
        <p:spPr>
          <a:xfrm>
            <a:off x="1783080" y="5212080"/>
            <a:ext cx="1920240" cy="347472"/>
          </a:xfrm>
          <a:prstGeom prst="roundRect">
            <a:avLst>
              <a:gd name="adj" fmla="val 52632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Kreator</a:t>
            </a:r>
            <a:endParaRPr lang="en-US" sz="1200" dirty="0"/>
          </a:p>
        </p:txBody>
      </p:sp>
      <p:sp>
        <p:nvSpPr>
          <p:cNvPr id="22" name="ai4-karta"/>
          <p:cNvSpPr/>
          <p:nvPr/>
        </p:nvSpPr>
        <p:spPr>
          <a:xfrm>
            <a:off x="6278728" y="3886200"/>
            <a:ext cx="5364328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/>
        </p:spPr>
      </p:sp>
      <p:sp>
        <p:nvSpPr>
          <p:cNvPr id="23" name="ai4-kolo"/>
          <p:cNvSpPr/>
          <p:nvPr/>
        </p:nvSpPr>
        <p:spPr>
          <a:xfrm>
            <a:off x="6553048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ai4-ik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8612" y="4336085"/>
            <a:ext cx="380390" cy="380390"/>
          </a:xfrm>
          <a:prstGeom prst="rect">
            <a:avLst/>
          </a:prstGeom>
        </p:spPr>
      </p:pic>
      <p:sp>
        <p:nvSpPr>
          <p:cNvPr id="25" name="ai4-tytul"/>
          <p:cNvSpPr txBox="1"/>
          <p:nvPr/>
        </p:nvSpPr>
        <p:spPr>
          <a:xfrm>
            <a:off x="7513168" y="4142232"/>
            <a:ext cx="385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Szkic wniosku o grant</a:t>
            </a:r>
            <a:endParaRPr lang="en-US" sz="2000" dirty="0"/>
          </a:p>
        </p:txBody>
      </p:sp>
      <p:sp>
        <p:nvSpPr>
          <p:cNvPr id="26" name="ai4-opis"/>
          <p:cNvSpPr txBox="1"/>
          <p:nvPr/>
        </p:nvSpPr>
        <p:spPr>
          <a:xfrm>
            <a:off x="7513168" y="4599432"/>
            <a:ext cx="3855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Harmonogram, kosztorys i plan trwałości pod wybrany nabór</a:t>
            </a:r>
            <a:endParaRPr lang="en-US" sz="1600" dirty="0"/>
          </a:p>
        </p:txBody>
      </p:sp>
      <p:sp>
        <p:nvSpPr>
          <p:cNvPr id="27" name="ai4-gdzie"/>
          <p:cNvSpPr/>
          <p:nvPr/>
        </p:nvSpPr>
        <p:spPr>
          <a:xfrm>
            <a:off x="7513168" y="5212080"/>
            <a:ext cx="1920240" cy="347472"/>
          </a:xfrm>
          <a:prstGeom prst="roundRect">
            <a:avLst>
              <a:gd name="adj" fmla="val 52632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Wniosek o grant</a:t>
            </a:r>
            <a:endParaRPr lang="en-US" sz="1200" dirty="0"/>
          </a:p>
        </p:txBody>
      </p:sp>
      <p:sp>
        <p:nvSpPr>
          <p:cNvPr id="28" name="model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Model gemini-3.1-flash-lite · odpowiedź zawsze w ustalonym schemacie JSON, więc aplikacja dostaje dokładnie te pola, które wyświetla</a:t>
            </a:r>
            <a:endParaRPr lang="en-US" sz="1400" dirty="0"/>
          </a:p>
        </p:txBody>
      </p:sp>
      <p:sp>
        <p:nvSpPr>
          <p:cNvPr id="29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1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70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300"/>
                            </p:stCondLst>
                            <p:childTnLst>
                              <p:par>
                                <p:cTn id="10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2900"/>
                            </p:stCondLst>
                            <p:childTnLst>
                              <p:par>
                                <p:cTn id="1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"/>
          <p:cNvSpPr/>
          <p:nvPr>
            <p:ph idx="100" type="title" hasCustomPrompt="1"/>
          </p:nvPr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Dostępność i prywatność</a:t>
            </a:r>
            <a:endParaRPr lang="en-US" sz="3600" dirty="0"/>
          </a:p>
        </p:txBody>
      </p:sp>
      <p:sp>
        <p:nvSpPr>
          <p:cNvPr id="3" name="Opis"/>
          <p:cNvSpPr/>
          <p:nvPr>
            <p:ph idx="101" type="body" hasCustomPrompt="1"/>
          </p:nvPr>
        </p:nvSpPr>
        <p:spPr>
          <a:xfrm>
            <a:off x="548640" y="11155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Projektowane od początku dla seniorów i osób z niepełnosprawnościami</a:t>
            </a:r>
            <a:endParaRPr lang="en-US" sz="1800" dirty="0"/>
          </a:p>
        </p:txBody>
      </p:sp>
      <p:sp>
        <p:nvSpPr>
          <p:cNvPr id="4" name="wcag-karta"/>
          <p:cNvSpPr/>
          <p:nvPr/>
        </p:nvSpPr>
        <p:spPr>
          <a:xfrm>
            <a:off x="548640" y="1828800"/>
            <a:ext cx="5318608" cy="3611880"/>
          </a:xfrm>
          <a:prstGeom prst="roundRect">
            <a:avLst>
              <a:gd name="adj" fmla="val 4557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" name="wcag-kolo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wcag-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267712"/>
            <a:ext cx="356616" cy="356616"/>
          </a:xfrm>
          <a:prstGeom prst="rect">
            <a:avLst/>
          </a:prstGeom>
        </p:spPr>
      </p:pic>
      <p:sp>
        <p:nvSpPr>
          <p:cNvPr id="7" name="wcag-tytul"/>
          <p:cNvSpPr txBox="1"/>
          <p:nvPr/>
        </p:nvSpPr>
        <p:spPr>
          <a:xfrm>
            <a:off x="1737360" y="210312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WCAG 2.1 AA</a:t>
            </a:r>
            <a:endParaRPr lang="en-US" sz="2200" dirty="0"/>
          </a:p>
        </p:txBody>
      </p:sp>
      <p:sp>
        <p:nvSpPr>
          <p:cNvPr id="8" name="wcag-opis"/>
          <p:cNvSpPr txBox="1"/>
          <p:nvPr/>
        </p:nvSpPr>
        <p:spPr>
          <a:xfrm>
            <a:off x="868680" y="3017520"/>
            <a:ext cx="46785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Pełna obsługa klawiaturą i widoczny fokus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Tekst 18 px, przycisk A+ i cele dotyku 44 px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Działa przy 320 px szerokości i powiększeniu 200%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Etykiety pól, błędy opisane słowami, komunikaty dla czytników ekranu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Prosty język i deklaracja dostępności</a:t>
            </a:r>
            <a:endParaRPr lang="en-US" sz="1600" dirty="0"/>
          </a:p>
        </p:txBody>
      </p:sp>
      <p:sp>
        <p:nvSpPr>
          <p:cNvPr id="9" name="prywatnosc-karta"/>
          <p:cNvSpPr/>
          <p:nvPr/>
        </p:nvSpPr>
        <p:spPr>
          <a:xfrm>
            <a:off x="6324448" y="1828800"/>
            <a:ext cx="5318608" cy="3611880"/>
          </a:xfrm>
          <a:prstGeom prst="roundRect">
            <a:avLst>
              <a:gd name="adj" fmla="val 4557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0" name="prywatnosc-kolo"/>
          <p:cNvSpPr/>
          <p:nvPr/>
        </p:nvSpPr>
        <p:spPr>
          <a:xfrm>
            <a:off x="6644488" y="21031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prywatnosc-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080" y="2267712"/>
            <a:ext cx="356616" cy="356616"/>
          </a:xfrm>
          <a:prstGeom prst="rect">
            <a:avLst/>
          </a:prstGeom>
        </p:spPr>
      </p:pic>
      <p:sp>
        <p:nvSpPr>
          <p:cNvPr id="12" name="prywatnosc-tytul"/>
          <p:cNvSpPr txBox="1"/>
          <p:nvPr/>
        </p:nvSpPr>
        <p:spPr>
          <a:xfrm>
            <a:off x="7513168" y="2103120"/>
            <a:ext cx="385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Prywatność i bezpieczeństwo</a:t>
            </a:r>
            <a:endParaRPr lang="en-US" sz="2200" dirty="0"/>
          </a:p>
        </p:txBody>
      </p:sp>
      <p:sp>
        <p:nvSpPr>
          <p:cNvPr id="13" name="prywatnosc-opis"/>
          <p:cNvSpPr txBox="1"/>
          <p:nvPr/>
        </p:nvSpPr>
        <p:spPr>
          <a:xfrm>
            <a:off x="6644488" y="3017520"/>
            <a:ext cx="46785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Odpowiedzi z Panelu ROPS wysyła serwer — adres e-mail nie trafia do przeglądarki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Klucze do bazy i AI tylko po stronie serwera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Dane w wersji demonstracyjnej są fikcyjne</a:t>
            </a:r>
            <a:endParaRPr lang="en-US" sz="1600" dirty="0"/>
          </a:p>
        </p:txBody>
      </p:sp>
      <p:sp>
        <p:nvSpPr>
          <p:cNvPr id="14" name="koniec"/>
          <p:cNvSpPr txBox="1"/>
          <p:nvPr/>
        </p:nvSpPr>
        <p:spPr>
          <a:xfrm>
            <a:off x="548640" y="57150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Podaj Dalej — dobre rozwiązania nie powinny zostawać w jednej gminie</a:t>
            </a:r>
            <a:endParaRPr lang="en-US" sz="1800" dirty="0"/>
          </a:p>
        </p:txBody>
      </p:sp>
      <p:sp>
        <p:nvSpPr>
          <p:cNvPr id="26" name="Numer slajdu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100"/>
                            </p:stCondLst>
                            <p:childTnLst>
                              <p:par>
                                <p:cTn id="4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7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tytuł"/>
          <p:cNvSpPr/>
          <p:nvPr>
            <p:ph idx="100" type="body" hasCustomPrompt="1"/>
          </p:nvPr>
        </p:nvSpPr>
        <p:spPr>
          <a:xfrm>
            <a:off x="548640" y="868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HACKYEAH 2026 · WYZWANIE ROPS KRAKÓW</a:t>
            </a:r>
            <a:endParaRPr lang="en-US" sz="1400" dirty="0"/>
          </a:p>
        </p:txBody>
      </p:sp>
      <p:sp>
        <p:nvSpPr>
          <p:cNvPr id="3" name="Tytuł"/>
          <p:cNvSpPr/>
          <p:nvPr>
            <p:ph idx="101" type="title" hasCustomPrompt="1"/>
          </p:nvPr>
        </p:nvSpPr>
        <p:spPr>
          <a:xfrm>
            <a:off x="548640" y="128016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Dziękujemy!</a:t>
            </a:r>
            <a:endParaRPr lang="en-US" sz="6000" dirty="0"/>
          </a:p>
        </p:txBody>
      </p:sp>
      <p:sp>
        <p:nvSpPr>
          <p:cNvPr id="4" name="Hasło"/>
          <p:cNvSpPr/>
          <p:nvPr>
            <p:ph idx="102" type="body" hasCustomPrompt="1"/>
          </p:nvPr>
        </p:nvSpPr>
        <p:spPr>
          <a:xfrm>
            <a:off x="548640" y="24231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Nie wymyślaj koła na nowo — podaj dalej</a:t>
            </a:r>
            <a:endParaRPr lang="en-US" sz="2600" dirty="0"/>
          </a:p>
        </p:txBody>
      </p:sp>
      <p:sp>
        <p:nvSpPr>
          <p:cNvPr id="5" name="Kod QR"/>
          <p:cNvSpPr>
            <a:spLocks noGrp="1"/>
          </p:cNvSpPr>
          <p:nvPr>
            <p:ph type="pic" idx="103"/>
          </p:nvPr>
        </p:nvSpPr>
        <p:spPr/>
      </p:sp>
      <p:sp>
        <p:nvSpPr>
          <p:cNvPr id="6" name="podsumowanie1-kolo"/>
          <p:cNvSpPr/>
          <p:nvPr/>
        </p:nvSpPr>
        <p:spPr>
          <a:xfrm>
            <a:off x="548640" y="329184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podsumowanie1-ik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8" name="podsumowanie1-tekst"/>
          <p:cNvSpPr txBox="1"/>
          <p:nvPr/>
        </p:nvSpPr>
        <p:spPr>
          <a:xfrm>
            <a:off x="1371600" y="325526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Problem: </a:t>
            </a:r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Małopolska się starzeje, rośnie samotność, a dobre rozwiązania zostają w jednej gminie</a:t>
            </a:r>
            <a:endParaRPr lang="en-US" sz="1600" dirty="0"/>
          </a:p>
        </p:txBody>
      </p:sp>
      <p:sp>
        <p:nvSpPr>
          <p:cNvPr id="9" name="podsumowanie2-kolo"/>
          <p:cNvSpPr/>
          <p:nvPr/>
        </p:nvSpPr>
        <p:spPr>
          <a:xfrm>
            <a:off x="548640" y="406908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odsumowanie2-ik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206240"/>
            <a:ext cx="292608" cy="292608"/>
          </a:xfrm>
          <a:prstGeom prst="rect">
            <a:avLst/>
          </a:prstGeom>
        </p:spPr>
      </p:pic>
      <p:sp>
        <p:nvSpPr>
          <p:cNvPr id="11" name="podsumowanie2-tekst"/>
          <p:cNvSpPr txBox="1"/>
          <p:nvPr/>
        </p:nvSpPr>
        <p:spPr>
          <a:xfrm>
            <a:off x="1371600" y="403250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Rozwiązanie: </a:t>
            </a:r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biblioteka sprawdzonych innowacji i AI, które dopasowuje je do potrzeb gminy</a:t>
            </a:r>
            <a:endParaRPr lang="en-US" sz="1600" dirty="0"/>
          </a:p>
        </p:txBody>
      </p:sp>
      <p:sp>
        <p:nvSpPr>
          <p:cNvPr id="12" name="podsumowanie3-kolo"/>
          <p:cNvSpPr/>
          <p:nvPr/>
        </p:nvSpPr>
        <p:spPr>
          <a:xfrm>
            <a:off x="548640" y="48463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podsumowanie3-ik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983480"/>
            <a:ext cx="292608" cy="292608"/>
          </a:xfrm>
          <a:prstGeom prst="rect">
            <a:avLst/>
          </a:prstGeom>
        </p:spPr>
      </p:pic>
      <p:sp>
        <p:nvSpPr>
          <p:cNvPr id="14" name="podsumowanie3-tekst"/>
          <p:cNvSpPr txBox="1"/>
          <p:nvPr/>
        </p:nvSpPr>
        <p:spPr>
          <a:xfrm>
            <a:off x="1371600" y="480974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Dla każdego: </a:t>
            </a:r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pięć ról, WCAG 2.1 AA, obsługa głosem i duży tekst</a:t>
            </a:r>
            <a:endParaRPr lang="en-US" sz="1600" dirty="0"/>
          </a:p>
        </p:txBody>
      </p:sp>
      <p:sp>
        <p:nvSpPr>
          <p:cNvPr id="15" name="qr-tytul"/>
          <p:cNvSpPr txBox="1"/>
          <p:nvPr/>
        </p:nvSpPr>
        <p:spPr>
          <a:xfrm>
            <a:off x="8321040" y="4343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Wypróbuj Podaj Dalej</a:t>
            </a:r>
            <a:endParaRPr lang="en-US" sz="2000" dirty="0"/>
          </a:p>
        </p:txBody>
      </p:sp>
      <p:sp>
        <p:nvSpPr>
          <p:cNvPr id="16" name="qr-opis"/>
          <p:cNvSpPr txBox="1"/>
          <p:nvPr/>
        </p:nvSpPr>
        <p:spPr>
          <a:xfrm>
            <a:off x="8321040" y="4754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Zeskanuj kod telefonem</a:t>
            </a:r>
            <a:endParaRPr lang="en-US" sz="1500" dirty="0"/>
          </a:p>
        </p:txBody>
      </p:sp>
      <p:sp>
        <p:nvSpPr>
          <p:cNvPr id="17" name="zespol"/>
          <p:cNvSpPr txBox="1"/>
          <p:nvPr/>
        </p:nvSpPr>
        <p:spPr>
          <a:xfrm>
            <a:off x="7680960" y="5715000"/>
            <a:ext cx="3962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Przygotował zespół </a:t>
            </a:r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Dombasiarze</a:t>
            </a:r>
            <a:endParaRPr lang="en-US" sz="2000" dirty="0"/>
          </a:p>
        </p:txBody>
      </p:sp>
      <p:sp>
        <p:nvSpPr>
          <p:cNvPr id="18" name="pytania"/>
          <p:cNvSpPr txBox="1"/>
          <p:nvPr/>
        </p:nvSpPr>
        <p:spPr>
          <a:xfrm>
            <a:off x="548640" y="57150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Pytania? Chętnie pokażemy aplikację na żywo.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7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2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70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00"/>
                            </p:stCondLst>
                            <p:childTnLst>
                              <p:par>
                                <p:cTn id="7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39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4500"/>
                            </p:stCondLst>
                            <p:childTnLst>
                              <p:par>
                                <p:cTn id="9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5" grpId="0" animBg="1"/>
      <p:bldP spid="15" grpId="0" animBg="1"/>
      <p:bldP spid="16" grpId="0" animBg="1"/>
      <p:bldP spid="18" grpId="0" animBg="1"/>
      <p:bldP spid="17" grpId="0" animBg="1"/>
    </p:bldLst>
  </p:timing>
</p:sld>
</file>

<file path=ppt/theme/theme1.xml><?xml version="1.0" encoding="utf-8"?>
<a:theme xmlns:a="http://schemas.openxmlformats.org/drawingml/2006/main" name="Podaj Dalej">
  <a:themeElements>
    <a:clrScheme name="Podaj Dalej">
      <a:dk1>
        <a:srgbClr val="0F1416"/>
      </a:dk1>
      <a:lt1>
        <a:srgbClr val="FFFFFF"/>
      </a:lt1>
      <a:dk2>
        <a:srgbClr val="072A20"/>
      </a:dk2>
      <a:lt2>
        <a:srgbClr val="F1F3F3"/>
      </a:lt2>
      <a:accent1>
        <a:srgbClr val="007A55"/>
      </a:accent1>
      <a:accent2>
        <a:srgbClr val="34D399"/>
      </a:accent2>
      <a:accent3>
        <a:srgbClr val="F59E0B"/>
      </a:accent3>
      <a:accent4>
        <a:srgbClr val="5E6C72"/>
      </a:accent4>
      <a:accent5>
        <a:srgbClr val="D1FAE5"/>
      </a:accent5>
      <a:accent6>
        <a:srgbClr val="C9D8D2"/>
      </a:accent6>
      <a:hlink>
        <a:srgbClr val="007A55"/>
      </a:hlink>
      <a:folHlink>
        <a:srgbClr val="006045"/>
      </a:folHlink>
    </a:clrScheme>
    <a:fontScheme name="Podaj Dalej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Podaj Dalej — problem, rozwiązanie, technologia</dc:title>
  <dc:subject>PptxGenJS Presentation</dc:subject>
  <dc:creator>Zespół Podaj Dalej</dc:creator>
  <cp:lastModifiedBy>Zespół Podaj Dalej</cp:lastModifiedBy>
  <cp:revision>1</cp:revision>
  <dcterms:created xsi:type="dcterms:W3CDTF">2026-10-04T00:56:39Z</dcterms:created>
  <dcterms:modified xsi:type="dcterms:W3CDTF">2026-10-04T00:56:39Z</dcterms:modified>
</cp:coreProperties>
</file>