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daj Dalej" id="{f68ade3b-359e-f1cc-5205-da8f9905c64d}">
          <p14:sldIdLst>
            <p14:sldId id="256"/>
          </p14:sldIdLst>
        </p14:section>
        <p14:section name="Role" id="{40cebc94-4853-538b-17a2-67c43eb2b4eb}">
          <p14:sldIdLst>
            <p14:sldId id="257"/>
          </p14:sldIdLst>
        </p14:section>
        <p14:section name="Widoki" id="{91b34574-0d4b-85fb-c2b4-40873f72abdd}">
          <p14:sldIdLst>
            <p14:sldId id="258"/>
          </p14:sldIdLst>
        </p14:section>
        <p14:section name="Jak to działa" id="{4a4d1a1d-e0e6-0d21-42bf-c306cbe8e3f8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Gminy często tworzą od zera rozwiązania, które gdzie indziej już działają. Podaj Dalej zbiera sprawdzone innowacje społeczne z Małopolski i pomaga je przenieść do kolejnych gmin. Z platformy korzysta pięć grup odbiorców z karty ROPS — i każda widzi ją trochę inaczej.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Mieszkaniec zgłasza problem i testuje innowacje — to moduły Matchmaking i Tester. Organizacja wnosi własne rozwiązanie przez Kreatora z AI i przygotowuje wniosek o grant. Samorząd szuka gotowego rozwiązania w Bibliotece i dostosowuje je do swojej gminy — to moduł Middleman. Ekspert ocenia innowacje, żeby gminy wiedziały, co warto wdrażać. ROPS wszystko weryfikuje w Panelu i odpowiada na wiadomości.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 najlepiej pokazać to na żywo: otwieramy jedną innowację, na przykład Cyfrowy Senior, i przełączamy rolę w nagłówku. Mieszkaniec widzi zapis na test, urzędnik — dostosowanie do swojej gminy z pomocą AI, a ekspert — formularz opinii eksperta.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 demo rolę wybiera się przełącznikiem w nagłówku — dzięki temu komisja może w kilka sekund zobaczyć aplikację oczami każdej grupy. Aplikacja dopasowuje opis, główny przycisk i działania przy innowacjach. W wersji produkcyjnej rolę ustalałoby konto po zalogowaniu, a razem z nią uprawnienia, na przykład dostęp do Panelu ROPS.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lowy">
    <p:bg>
      <p:bgPr>
        <a:solidFill>
          <a:srgbClr val="07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234440"/>
            <a:ext cx="56692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Nadtytuł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56692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Tytuł</a:t>
            </a: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r>
              <a:rPr lang="en-US" sz="2600" dirty="0">
                <a:solidFill>
                  <a:schemeClr val="accent5"/>
                </a:solidFill>
              </a:rPr>
              <a:t>Hasło</a:t>
            </a:r>
            <a:endParaRPr lang="en-US" sz="2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977640"/>
            <a:ext cx="53035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Opis</a:t>
            </a:r>
            <a:endParaRPr lang="en-US" sz="1600" dirty="0"/>
          </a:p>
        </p:txBody>
      </p:sp>
      <p:sp>
        <p:nvSpPr>
          <p:cNvPr id="6" name="Zrzut ekranu 104"/>
          <p:cNvSpPr>
            <a:spLocks noGrp="1"/>
          </p:cNvSpPr>
          <p:nvPr>
            <p:ph type="pic" idx="104" hasCustomPrompt="1"/>
          </p:nvPr>
        </p:nvSpPr>
        <p:spPr>
          <a:xfrm>
            <a:off x="6629400" y="1234440"/>
            <a:ext cx="4983480" cy="4023360"/>
          </a:xfrm>
          <a:prstGeom prst="roundRect">
            <a:avLst>
              <a:gd name="adj" fmla="val 5000"/>
            </a:avLst>
          </a:prstGeom>
          <a:solidFill>
            <a:schemeClr val="accent1">
              <a:alpha val="30000"/>
            </a:schemeClr>
          </a:solidFill>
          <a:ln w="19050">
            <a:solidFill>
              <a:schemeClr val="accent2"/>
            </a:solidFill>
            <a:prstDash val="dash"/>
          </a:ln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pl-PL" sz="1400" dirty="0"/>
              <a:t>Wstaw zrzut ekranu: strona główna</a:t>
            </a:r>
          </a:p>
        </p:txBody>
      </p:sp>
      <p:sp>
        <p:nvSpPr>
          <p:cNvPr id="7" name="Text 0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Podaj Dalej · HackYeah 2026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s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Tytuł slajdu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9441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Jedno zdanie wyjaśnienia</a:t>
            </a: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Podaj Dalej · HackYeah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zy zrzut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Tytuł slajdu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15568"/>
            <a:ext cx="1109441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Jedno zdanie wyjaśnienia</a:t>
            </a:r>
            <a:endParaRPr lang="en-US" sz="1800" dirty="0"/>
          </a:p>
        </p:txBody>
      </p:sp>
      <p:sp>
        <p:nvSpPr>
          <p:cNvPr id="4" name="Zrzut ekranu 102"/>
          <p:cNvSpPr>
            <a:spLocks noGrp="1"/>
          </p:cNvSpPr>
          <p:nvPr>
            <p:ph type="pic" idx="102" hasCustomPrompt="1"/>
          </p:nvPr>
        </p:nvSpPr>
        <p:spPr>
          <a:xfrm>
            <a:off x="548640" y="1874520"/>
            <a:ext cx="3454298" cy="2743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dash"/>
          </a:ln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4"/>
                </a:solidFill>
              </a:defRPr>
            </a:lvl1pPr>
          </a:lstStyle>
          <a:p>
            <a:r>
              <a:rPr lang="pl-PL" sz="1400" dirty="0"/>
              <a:t>Zrzut: innowacja jako Mieszkaniec</a:t>
            </a:r>
          </a:p>
        </p:txBody>
      </p:sp>
      <p:sp>
        <p:nvSpPr>
          <p:cNvPr id="5" name="Zrzut ekranu 103"/>
          <p:cNvSpPr>
            <a:spLocks noGrp="1"/>
          </p:cNvSpPr>
          <p:nvPr>
            <p:ph type="pic" idx="103" hasCustomPrompt="1"/>
          </p:nvPr>
        </p:nvSpPr>
        <p:spPr>
          <a:xfrm>
            <a:off x="4368698" y="1874520"/>
            <a:ext cx="3454298" cy="2743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dash"/>
          </a:ln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4"/>
                </a:solidFill>
              </a:defRPr>
            </a:lvl1pPr>
          </a:lstStyle>
          <a:p>
            <a:r>
              <a:rPr lang="pl-PL" sz="1400" dirty="0"/>
              <a:t>Zrzut: innowacja jako Samorząd</a:t>
            </a:r>
          </a:p>
        </p:txBody>
      </p:sp>
      <p:sp>
        <p:nvSpPr>
          <p:cNvPr id="6" name="Zrzut ekranu 104"/>
          <p:cNvSpPr>
            <a:spLocks noGrp="1"/>
          </p:cNvSpPr>
          <p:nvPr>
            <p:ph type="pic" idx="104" hasCustomPrompt="1"/>
          </p:nvPr>
        </p:nvSpPr>
        <p:spPr>
          <a:xfrm>
            <a:off x="8188757" y="1874520"/>
            <a:ext cx="3454298" cy="2743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dash"/>
          </a:ln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4"/>
                </a:solidFill>
              </a:defRPr>
            </a:lvl1pPr>
          </a:lstStyle>
          <a:p>
            <a:r>
              <a:rPr lang="pl-PL" sz="1400" dirty="0"/>
              <a:t>Zrzut: innowacja jako Ekspert</a:t>
            </a:r>
          </a:p>
        </p:txBody>
      </p:sp>
      <p:sp>
        <p:nvSpPr>
          <p:cNvPr id="7" name="Text 0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Podaj Dalej · HackYeah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mny z zrzutem">
    <p:bg>
      <p:bgPr>
        <a:solidFill>
          <a:srgbClr val="07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Tytuł slajdu</a:t>
            </a:r>
            <a:endParaRPr lang="en-US" sz="3600" dirty="0"/>
          </a:p>
        </p:txBody>
      </p:sp>
      <p:sp>
        <p:nvSpPr>
          <p:cNvPr id="3" name="Zrzut ekranu 101"/>
          <p:cNvSpPr>
            <a:spLocks noGrp="1"/>
          </p:cNvSpPr>
          <p:nvPr>
            <p:ph type="pic" idx="101" hasCustomPrompt="1"/>
          </p:nvPr>
        </p:nvSpPr>
        <p:spPr>
          <a:xfrm>
            <a:off x="6812280" y="1325880"/>
            <a:ext cx="4800600" cy="4206240"/>
          </a:xfrm>
          <a:prstGeom prst="roundRect">
            <a:avLst>
              <a:gd name="adj" fmla="val 5000"/>
            </a:avLst>
          </a:prstGeom>
          <a:solidFill>
            <a:schemeClr val="accent1">
              <a:alpha val="30000"/>
            </a:schemeClr>
          </a:solidFill>
          <a:ln w="19050">
            <a:solidFill>
              <a:schemeClr val="accent2"/>
            </a:solidFill>
            <a:prstDash val="dash"/>
          </a:ln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pl-PL" sz="1400" dirty="0"/>
              <a:t>Wstaw zrzut ekranu: przełącznik ról</a:t>
            </a:r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Podaj Dalej · HackYeah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tytuł"/>
          <p:cNvSpPr/>
          <p:nvPr>
            <p:ph idx="100" type="body" hasCustomPrompt="1"/>
          </p:nvPr>
        </p:nvSpPr>
        <p:spPr>
          <a:xfrm>
            <a:off x="548640" y="1234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MAŁOPOLSKI HUB INNOWACJI SPOŁECZNYCH</a:t>
            </a:r>
            <a:endParaRPr lang="en-US" sz="1400" dirty="0"/>
          </a:p>
        </p:txBody>
      </p:sp>
      <p:sp>
        <p:nvSpPr>
          <p:cNvPr id="3" name="Tytuł"/>
          <p:cNvSpPr/>
          <p:nvPr>
            <p:ph idx="101" type="title" hasCustomPrompt="1"/>
          </p:nvPr>
        </p:nvSpPr>
        <p:spPr>
          <a:xfrm>
            <a:off x="548640" y="16916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Podaj Dalej</a:t>
            </a:r>
            <a:endParaRPr lang="en-US" sz="6000" dirty="0"/>
          </a:p>
        </p:txBody>
      </p:sp>
      <p:sp>
        <p:nvSpPr>
          <p:cNvPr id="4" name="Hasło"/>
          <p:cNvSpPr/>
          <p:nvPr>
            <p:ph idx="102" type="body" hasCustomPrompt="1"/>
          </p:nvPr>
        </p:nvSpPr>
        <p:spPr>
          <a:xfrm>
            <a:off x="548640" y="29718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5"/>
                </a:solidFill>
              </a:rPr>
              <a:t>Nie wymyślaj koła na nowo — podaj dalej</a:t>
            </a:r>
            <a:endParaRPr lang="en-US" sz="2600" dirty="0"/>
          </a:p>
        </p:txBody>
      </p:sp>
      <p:sp>
        <p:nvSpPr>
          <p:cNvPr id="5" name="Opis"/>
          <p:cNvSpPr/>
          <p:nvPr>
            <p:ph idx="103" type="body" hasCustomPrompt="1"/>
          </p:nvPr>
        </p:nvSpPr>
        <p:spPr>
          <a:xfrm>
            <a:off x="548640" y="397764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Łączymy problemy zgłaszane przez mieszkańców, organizacje i gminy z gotowymi innowacjami społecznymi. Każdy z nich ma w aplikacji własną ścieżkę.</a:t>
            </a:r>
            <a:endParaRPr lang="en-US" sz="1600" dirty="0"/>
          </a:p>
        </p:txBody>
      </p:sp>
      <p:sp>
        <p:nvSpPr>
          <p:cNvPr id="6" name="Zrzut ekranu"/>
          <p:cNvSpPr>
            <a:spLocks noGrp="1"/>
          </p:cNvSpPr>
          <p:nvPr>
            <p:ph type="pic" idx="104"/>
          </p:nvPr>
        </p:nvSpPr>
        <p:spPr/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Pięć ról, pięć ścieżek</a:t>
            </a:r>
            <a:endParaRPr lang="en-US" sz="3600" dirty="0"/>
          </a:p>
        </p:txBody>
      </p:sp>
      <p:sp>
        <p:nvSpPr>
          <p:cNvPr id="3" name="Opis"/>
          <p:cNvSpPr/>
          <p:nvPr>
            <p:ph idx="101" type="body" hasCustomPrompt="1"/>
          </p:nvPr>
        </p:nvSpPr>
        <p:spPr>
          <a:xfrm>
            <a:off x="548640" y="111556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Każdy odbiorca z karty ROPS ma w aplikacji własną drogę i własne działania</a:t>
            </a:r>
            <a:endParaRPr lang="en-US" sz="1800" dirty="0"/>
          </a:p>
        </p:txBody>
      </p:sp>
      <p:sp>
        <p:nvSpPr>
          <p:cNvPr id="4" name="rola1-karta"/>
          <p:cNvSpPr/>
          <p:nvPr/>
        </p:nvSpPr>
        <p:spPr>
          <a:xfrm>
            <a:off x="548640" y="1874520"/>
            <a:ext cx="2036003" cy="4160520"/>
          </a:xfrm>
          <a:prstGeom prst="roundRect">
            <a:avLst>
              <a:gd name="adj" fmla="val 8084"/>
            </a:avLst>
          </a:prstGeom>
          <a:solidFill>
            <a:schemeClr val="bg2"/>
          </a:solidFill>
          <a:ln/>
        </p:spPr>
      </p:sp>
      <p:sp>
        <p:nvSpPr>
          <p:cNvPr id="5" name="rola1-kolo"/>
          <p:cNvSpPr/>
          <p:nvPr/>
        </p:nvSpPr>
        <p:spPr>
          <a:xfrm>
            <a:off x="822960" y="21945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rola1-ik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77440"/>
            <a:ext cx="411480" cy="411480"/>
          </a:xfrm>
          <a:prstGeom prst="rect">
            <a:avLst/>
          </a:prstGeom>
        </p:spPr>
      </p:pic>
      <p:sp>
        <p:nvSpPr>
          <p:cNvPr id="7" name="rola1-nazwa"/>
          <p:cNvSpPr txBox="1"/>
          <p:nvPr/>
        </p:nvSpPr>
        <p:spPr>
          <a:xfrm>
            <a:off x="822960" y="3200400"/>
            <a:ext cx="1487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Mieszkaniec</a:t>
            </a:r>
            <a:endParaRPr lang="en-US" sz="2100" dirty="0"/>
          </a:p>
        </p:txBody>
      </p:sp>
      <p:sp>
        <p:nvSpPr>
          <p:cNvPr id="8" name="rola1-opis"/>
          <p:cNvSpPr txBox="1"/>
          <p:nvPr/>
        </p:nvSpPr>
        <p:spPr>
          <a:xfrm>
            <a:off x="822960" y="3703320"/>
            <a:ext cx="1487363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Zgłasza problem z okolicy, zapisuje się na test i ocenia innowacje</a:t>
            </a:r>
            <a:endParaRPr lang="en-US" sz="1500" dirty="0"/>
          </a:p>
        </p:txBody>
      </p:sp>
      <p:sp>
        <p:nvSpPr>
          <p:cNvPr id="9" name="rola1-moduly"/>
          <p:cNvSpPr/>
          <p:nvPr/>
        </p:nvSpPr>
        <p:spPr>
          <a:xfrm>
            <a:off x="822960" y="5349240"/>
            <a:ext cx="1487363" cy="384048"/>
          </a:xfrm>
          <a:prstGeom prst="roundRect">
            <a:avLst>
              <a:gd name="adj" fmla="val 35714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Moduły I · IV</a:t>
            </a:r>
            <a:endParaRPr lang="en-US" sz="1200" dirty="0"/>
          </a:p>
        </p:txBody>
      </p:sp>
      <p:sp>
        <p:nvSpPr>
          <p:cNvPr id="10" name="rola2-karta"/>
          <p:cNvSpPr/>
          <p:nvPr/>
        </p:nvSpPr>
        <p:spPr>
          <a:xfrm>
            <a:off x="2813243" y="1874520"/>
            <a:ext cx="2036003" cy="4160520"/>
          </a:xfrm>
          <a:prstGeom prst="roundRect">
            <a:avLst>
              <a:gd name="adj" fmla="val 8084"/>
            </a:avLst>
          </a:prstGeom>
          <a:solidFill>
            <a:schemeClr val="bg2"/>
          </a:solidFill>
          <a:ln/>
        </p:spPr>
      </p:sp>
      <p:sp>
        <p:nvSpPr>
          <p:cNvPr id="11" name="rola2-kolo"/>
          <p:cNvSpPr/>
          <p:nvPr/>
        </p:nvSpPr>
        <p:spPr>
          <a:xfrm>
            <a:off x="3087563" y="21945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rola2-ikon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443" y="2377440"/>
            <a:ext cx="411480" cy="411480"/>
          </a:xfrm>
          <a:prstGeom prst="rect">
            <a:avLst/>
          </a:prstGeom>
        </p:spPr>
      </p:pic>
      <p:sp>
        <p:nvSpPr>
          <p:cNvPr id="13" name="rola2-nazwa"/>
          <p:cNvSpPr txBox="1"/>
          <p:nvPr/>
        </p:nvSpPr>
        <p:spPr>
          <a:xfrm>
            <a:off x="3087563" y="3200400"/>
            <a:ext cx="1487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Organizacja</a:t>
            </a:r>
            <a:endParaRPr lang="en-US" sz="2100" dirty="0"/>
          </a:p>
        </p:txBody>
      </p:sp>
      <p:sp>
        <p:nvSpPr>
          <p:cNvPr id="14" name="rola2-opis"/>
          <p:cNvSpPr txBox="1"/>
          <p:nvPr/>
        </p:nvSpPr>
        <p:spPr>
          <a:xfrm>
            <a:off x="3087563" y="3703320"/>
            <a:ext cx="1487363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Zgłasza rozwiązanie, rozwija je z AI i pisze wniosek o grant</a:t>
            </a:r>
            <a:endParaRPr lang="en-US" sz="1500" dirty="0"/>
          </a:p>
        </p:txBody>
      </p:sp>
      <p:sp>
        <p:nvSpPr>
          <p:cNvPr id="15" name="rola2-moduly"/>
          <p:cNvSpPr/>
          <p:nvPr/>
        </p:nvSpPr>
        <p:spPr>
          <a:xfrm>
            <a:off x="3087563" y="5349240"/>
            <a:ext cx="1487363" cy="384048"/>
          </a:xfrm>
          <a:prstGeom prst="roundRect">
            <a:avLst>
              <a:gd name="adj" fmla="val 35714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Moduły III · IV</a:t>
            </a:r>
            <a:endParaRPr lang="en-US" sz="1200" dirty="0"/>
          </a:p>
        </p:txBody>
      </p:sp>
      <p:sp>
        <p:nvSpPr>
          <p:cNvPr id="16" name="rola3-karta"/>
          <p:cNvSpPr/>
          <p:nvPr/>
        </p:nvSpPr>
        <p:spPr>
          <a:xfrm>
            <a:off x="5077846" y="1874520"/>
            <a:ext cx="2036003" cy="4160520"/>
          </a:xfrm>
          <a:prstGeom prst="roundRect">
            <a:avLst>
              <a:gd name="adj" fmla="val 8084"/>
            </a:avLst>
          </a:prstGeom>
          <a:solidFill>
            <a:schemeClr val="bg2"/>
          </a:solidFill>
          <a:ln/>
        </p:spPr>
      </p:sp>
      <p:sp>
        <p:nvSpPr>
          <p:cNvPr id="17" name="rola3-kolo"/>
          <p:cNvSpPr/>
          <p:nvPr/>
        </p:nvSpPr>
        <p:spPr>
          <a:xfrm>
            <a:off x="5352166" y="21945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rola3-ikon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046" y="2377440"/>
            <a:ext cx="411480" cy="411480"/>
          </a:xfrm>
          <a:prstGeom prst="rect">
            <a:avLst/>
          </a:prstGeom>
        </p:spPr>
      </p:pic>
      <p:sp>
        <p:nvSpPr>
          <p:cNvPr id="19" name="rola3-nazwa"/>
          <p:cNvSpPr txBox="1"/>
          <p:nvPr/>
        </p:nvSpPr>
        <p:spPr>
          <a:xfrm>
            <a:off x="5352166" y="3200400"/>
            <a:ext cx="1487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Samorząd</a:t>
            </a:r>
            <a:endParaRPr lang="en-US" sz="2100" dirty="0"/>
          </a:p>
        </p:txBody>
      </p:sp>
      <p:sp>
        <p:nvSpPr>
          <p:cNvPr id="20" name="rola3-opis"/>
          <p:cNvSpPr txBox="1"/>
          <p:nvPr/>
        </p:nvSpPr>
        <p:spPr>
          <a:xfrm>
            <a:off x="5352166" y="3703320"/>
            <a:ext cx="1487363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Znajduje gotowe rozwiązanie i dostosowuje je do swojej gminy</a:t>
            </a:r>
            <a:endParaRPr lang="en-US" sz="1500" dirty="0"/>
          </a:p>
        </p:txBody>
      </p:sp>
      <p:sp>
        <p:nvSpPr>
          <p:cNvPr id="21" name="rola3-moduly"/>
          <p:cNvSpPr/>
          <p:nvPr/>
        </p:nvSpPr>
        <p:spPr>
          <a:xfrm>
            <a:off x="5352166" y="5349240"/>
            <a:ext cx="1487363" cy="384048"/>
          </a:xfrm>
          <a:prstGeom prst="roundRect">
            <a:avLst>
              <a:gd name="adj" fmla="val 35714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Moduły II · VII</a:t>
            </a:r>
            <a:endParaRPr lang="en-US" sz="1200" dirty="0"/>
          </a:p>
        </p:txBody>
      </p:sp>
      <p:sp>
        <p:nvSpPr>
          <p:cNvPr id="22" name="rola4-karta"/>
          <p:cNvSpPr/>
          <p:nvPr/>
        </p:nvSpPr>
        <p:spPr>
          <a:xfrm>
            <a:off x="7342449" y="1874520"/>
            <a:ext cx="2036003" cy="4160520"/>
          </a:xfrm>
          <a:prstGeom prst="roundRect">
            <a:avLst>
              <a:gd name="adj" fmla="val 8084"/>
            </a:avLst>
          </a:prstGeom>
          <a:solidFill>
            <a:schemeClr val="bg2"/>
          </a:solidFill>
          <a:ln/>
        </p:spPr>
      </p:sp>
      <p:sp>
        <p:nvSpPr>
          <p:cNvPr id="23" name="rola4-kolo"/>
          <p:cNvSpPr/>
          <p:nvPr/>
        </p:nvSpPr>
        <p:spPr>
          <a:xfrm>
            <a:off x="7616769" y="21945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rola4-ikon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649" y="2377440"/>
            <a:ext cx="411480" cy="411480"/>
          </a:xfrm>
          <a:prstGeom prst="rect">
            <a:avLst/>
          </a:prstGeom>
        </p:spPr>
      </p:pic>
      <p:sp>
        <p:nvSpPr>
          <p:cNvPr id="25" name="rola4-nazwa"/>
          <p:cNvSpPr txBox="1"/>
          <p:nvPr/>
        </p:nvSpPr>
        <p:spPr>
          <a:xfrm>
            <a:off x="7616769" y="3200400"/>
            <a:ext cx="1487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Ekspert</a:t>
            </a:r>
            <a:endParaRPr lang="en-US" sz="2100" dirty="0"/>
          </a:p>
        </p:txBody>
      </p:sp>
      <p:sp>
        <p:nvSpPr>
          <p:cNvPr id="26" name="rola4-opis"/>
          <p:cNvSpPr txBox="1"/>
          <p:nvPr/>
        </p:nvSpPr>
        <p:spPr>
          <a:xfrm>
            <a:off x="7616769" y="3703320"/>
            <a:ext cx="1487363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Ocenia innowacje, żeby gminy wiedziały, co warto wdrażać</a:t>
            </a:r>
            <a:endParaRPr lang="en-US" sz="1500" dirty="0"/>
          </a:p>
        </p:txBody>
      </p:sp>
      <p:sp>
        <p:nvSpPr>
          <p:cNvPr id="27" name="rola4-moduly"/>
          <p:cNvSpPr/>
          <p:nvPr/>
        </p:nvSpPr>
        <p:spPr>
          <a:xfrm>
            <a:off x="7616769" y="5349240"/>
            <a:ext cx="1487363" cy="384048"/>
          </a:xfrm>
          <a:prstGeom prst="roundRect">
            <a:avLst>
              <a:gd name="adj" fmla="val 35714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Moduł IV</a:t>
            </a:r>
            <a:endParaRPr lang="en-US" sz="1200" dirty="0"/>
          </a:p>
        </p:txBody>
      </p:sp>
      <p:sp>
        <p:nvSpPr>
          <p:cNvPr id="28" name="rola5-karta"/>
          <p:cNvSpPr/>
          <p:nvPr/>
        </p:nvSpPr>
        <p:spPr>
          <a:xfrm>
            <a:off x="9607052" y="1874520"/>
            <a:ext cx="2036003" cy="4160520"/>
          </a:xfrm>
          <a:prstGeom prst="roundRect">
            <a:avLst>
              <a:gd name="adj" fmla="val 8084"/>
            </a:avLst>
          </a:prstGeom>
          <a:solidFill>
            <a:schemeClr val="bg2"/>
          </a:solidFill>
          <a:ln/>
        </p:spPr>
      </p:sp>
      <p:sp>
        <p:nvSpPr>
          <p:cNvPr id="29" name="rola5-kolo"/>
          <p:cNvSpPr/>
          <p:nvPr/>
        </p:nvSpPr>
        <p:spPr>
          <a:xfrm>
            <a:off x="9881372" y="21945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rola5-ikon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4252" y="2377440"/>
            <a:ext cx="411480" cy="411480"/>
          </a:xfrm>
          <a:prstGeom prst="rect">
            <a:avLst/>
          </a:prstGeom>
        </p:spPr>
      </p:pic>
      <p:sp>
        <p:nvSpPr>
          <p:cNvPr id="31" name="rola5-nazwa"/>
          <p:cNvSpPr txBox="1"/>
          <p:nvPr/>
        </p:nvSpPr>
        <p:spPr>
          <a:xfrm>
            <a:off x="9881372" y="3200400"/>
            <a:ext cx="1487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ROPS</a:t>
            </a:r>
            <a:endParaRPr lang="en-US" sz="2100" dirty="0"/>
          </a:p>
        </p:txBody>
      </p:sp>
      <p:sp>
        <p:nvSpPr>
          <p:cNvPr id="32" name="rola5-opis"/>
          <p:cNvSpPr txBox="1"/>
          <p:nvPr/>
        </p:nvSpPr>
        <p:spPr>
          <a:xfrm>
            <a:off x="9881372" y="3703320"/>
            <a:ext cx="1487363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Weryfikuje innowacje, odpowiada na wiadomości, prowadzi nabory</a:t>
            </a:r>
            <a:endParaRPr lang="en-US" sz="1500" dirty="0"/>
          </a:p>
        </p:txBody>
      </p:sp>
      <p:sp>
        <p:nvSpPr>
          <p:cNvPr id="33" name="rola5-moduly"/>
          <p:cNvSpPr/>
          <p:nvPr/>
        </p:nvSpPr>
        <p:spPr>
          <a:xfrm>
            <a:off x="9881372" y="5349240"/>
            <a:ext cx="1487363" cy="384048"/>
          </a:xfrm>
          <a:prstGeom prst="roundRect">
            <a:avLst>
              <a:gd name="adj" fmla="val 35714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Moduły V · VI</a:t>
            </a:r>
            <a:endParaRPr lang="en-US" sz="1200" dirty="0"/>
          </a:p>
        </p:txBody>
      </p:sp>
      <p:sp>
        <p:nvSpPr>
          <p:cNvPr id="34" name="Numer slajdu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1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700"/>
                            </p:stCondLst>
                            <p:childTnLst>
                              <p:par>
                                <p:cTn id="7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300"/>
                            </p:stCondLst>
                            <p:childTnLst>
                              <p:par>
                                <p:cTn id="10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2900"/>
                            </p:stCondLst>
                            <p:childTnLst>
                              <p:par>
                                <p:cTn id="1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Ta sama innowacja, inny widok</a:t>
            </a:r>
            <a:endParaRPr lang="en-US" sz="3600" dirty="0"/>
          </a:p>
        </p:txBody>
      </p:sp>
      <p:sp>
        <p:nvSpPr>
          <p:cNvPr id="3" name="Opis"/>
          <p:cNvSpPr/>
          <p:nvPr>
            <p:ph idx="101" type="body" hasCustomPrompt="1"/>
          </p:nvPr>
        </p:nvSpPr>
        <p:spPr>
          <a:xfrm>
            <a:off x="548640" y="111556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Przełączasz rolę w nagłówku — przyciski przy innowacji zmieniają się od razu</a:t>
            </a:r>
            <a:endParaRPr lang="en-US" sz="1800" dirty="0"/>
          </a:p>
        </p:txBody>
      </p:sp>
      <p:sp>
        <p:nvSpPr>
          <p:cNvPr id="4" name="Zrzut 1"/>
          <p:cNvSpPr>
            <a:spLocks noGrp="1"/>
          </p:cNvSpPr>
          <p:nvPr>
            <p:ph type="pic" idx="102"/>
          </p:nvPr>
        </p:nvSpPr>
        <p:spPr/>
      </p:sp>
      <p:sp>
        <p:nvSpPr>
          <p:cNvPr id="5" name="widok1-podpis"/>
          <p:cNvSpPr txBox="1"/>
          <p:nvPr/>
        </p:nvSpPr>
        <p:spPr>
          <a:xfrm>
            <a:off x="548640" y="4846320"/>
            <a:ext cx="345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Mieszkaniec widzi</a:t>
            </a:r>
            <a:endParaRPr lang="en-US" sz="1500" dirty="0"/>
          </a:p>
        </p:txBody>
      </p:sp>
      <p:sp>
        <p:nvSpPr>
          <p:cNvPr id="6" name="widok1-przycisk"/>
          <p:cNvSpPr/>
          <p:nvPr/>
        </p:nvSpPr>
        <p:spPr>
          <a:xfrm>
            <a:off x="548640" y="5257800"/>
            <a:ext cx="3454298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Zgłoś się do testu</a:t>
            </a:r>
            <a:endParaRPr lang="en-US" sz="1700" dirty="0"/>
          </a:p>
        </p:txBody>
      </p:sp>
      <p:sp>
        <p:nvSpPr>
          <p:cNvPr id="7" name="Zrzut 2"/>
          <p:cNvSpPr>
            <a:spLocks noGrp="1"/>
          </p:cNvSpPr>
          <p:nvPr>
            <p:ph type="pic" idx="103"/>
          </p:nvPr>
        </p:nvSpPr>
        <p:spPr/>
      </p:sp>
      <p:sp>
        <p:nvSpPr>
          <p:cNvPr id="8" name="widok2-podpis"/>
          <p:cNvSpPr txBox="1"/>
          <p:nvPr/>
        </p:nvSpPr>
        <p:spPr>
          <a:xfrm>
            <a:off x="4368698" y="4846320"/>
            <a:ext cx="345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Samorząd widzi</a:t>
            </a:r>
            <a:endParaRPr lang="en-US" sz="1500" dirty="0"/>
          </a:p>
        </p:txBody>
      </p:sp>
      <p:sp>
        <p:nvSpPr>
          <p:cNvPr id="9" name="widok2-przycisk"/>
          <p:cNvSpPr/>
          <p:nvPr/>
        </p:nvSpPr>
        <p:spPr>
          <a:xfrm>
            <a:off x="4368698" y="5257800"/>
            <a:ext cx="3454298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Dostosuj do mojej gminy</a:t>
            </a:r>
            <a:endParaRPr lang="en-US" sz="1700" dirty="0"/>
          </a:p>
        </p:txBody>
      </p:sp>
      <p:sp>
        <p:nvSpPr>
          <p:cNvPr id="10" name="Zrzut 3"/>
          <p:cNvSpPr>
            <a:spLocks noGrp="1"/>
          </p:cNvSpPr>
          <p:nvPr>
            <p:ph type="pic" idx="104"/>
          </p:nvPr>
        </p:nvSpPr>
        <p:spPr/>
      </p:sp>
      <p:sp>
        <p:nvSpPr>
          <p:cNvPr id="11" name="widok3-podpis"/>
          <p:cNvSpPr txBox="1"/>
          <p:nvPr/>
        </p:nvSpPr>
        <p:spPr>
          <a:xfrm>
            <a:off x="8188757" y="4846320"/>
            <a:ext cx="345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Ekspert widzi</a:t>
            </a:r>
            <a:endParaRPr lang="en-US" sz="1500" dirty="0"/>
          </a:p>
        </p:txBody>
      </p:sp>
      <p:sp>
        <p:nvSpPr>
          <p:cNvPr id="12" name="widok3-przycisk"/>
          <p:cNvSpPr/>
          <p:nvPr/>
        </p:nvSpPr>
        <p:spPr>
          <a:xfrm>
            <a:off x="8188757" y="5257800"/>
            <a:ext cx="3454298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Dodaj opinię eksperta</a:t>
            </a:r>
            <a:endParaRPr lang="en-US" sz="1700" dirty="0"/>
          </a:p>
        </p:txBody>
      </p:sp>
      <p:sp>
        <p:nvSpPr>
          <p:cNvPr id="26" name="Numer slajdu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9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Jak to działa</a:t>
            </a:r>
            <a:endParaRPr lang="en-US" sz="3600" dirty="0"/>
          </a:p>
        </p:txBody>
      </p:sp>
      <p:sp>
        <p:nvSpPr>
          <p:cNvPr id="3" name="Zrzut ekranu"/>
          <p:cNvSpPr>
            <a:spLocks noGrp="1"/>
          </p:cNvSpPr>
          <p:nvPr>
            <p:ph type="pic" idx="101"/>
          </p:nvPr>
        </p:nvSpPr>
        <p:spPr/>
      </p:sp>
      <p:sp>
        <p:nvSpPr>
          <p:cNvPr id="4" name="krok1-kolo"/>
          <p:cNvSpPr/>
          <p:nvPr/>
        </p:nvSpPr>
        <p:spPr>
          <a:xfrm>
            <a:off x="548640" y="155448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krok1-ik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411480" cy="411480"/>
          </a:xfrm>
          <a:prstGeom prst="rect">
            <a:avLst/>
          </a:prstGeom>
        </p:spPr>
      </p:pic>
      <p:sp>
        <p:nvSpPr>
          <p:cNvPr id="6" name="krok1-tytul"/>
          <p:cNvSpPr txBox="1"/>
          <p:nvPr/>
        </p:nvSpPr>
        <p:spPr>
          <a:xfrm>
            <a:off x="1600200" y="15361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Wybierz rolę</a:t>
            </a:r>
            <a:endParaRPr lang="en-US" sz="2200" dirty="0"/>
          </a:p>
        </p:txBody>
      </p:sp>
      <p:sp>
        <p:nvSpPr>
          <p:cNvPr id="7" name="krok1-opis"/>
          <p:cNvSpPr txBox="1"/>
          <p:nvPr/>
        </p:nvSpPr>
        <p:spPr>
          <a:xfrm>
            <a:off x="1600200" y="1965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Przełącznik „Jestem…” w nagłówku, na telefonie w menu</a:t>
            </a:r>
            <a:endParaRPr lang="en-US" sz="1600" dirty="0"/>
          </a:p>
        </p:txBody>
      </p:sp>
      <p:sp>
        <p:nvSpPr>
          <p:cNvPr id="8" name="krok2-kolo"/>
          <p:cNvSpPr/>
          <p:nvPr/>
        </p:nvSpPr>
        <p:spPr>
          <a:xfrm>
            <a:off x="548640" y="288036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krok2-ikon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063240"/>
            <a:ext cx="411480" cy="411480"/>
          </a:xfrm>
          <a:prstGeom prst="rect">
            <a:avLst/>
          </a:prstGeom>
        </p:spPr>
      </p:pic>
      <p:sp>
        <p:nvSpPr>
          <p:cNvPr id="10" name="krok2-tytul"/>
          <p:cNvSpPr txBox="1"/>
          <p:nvPr/>
        </p:nvSpPr>
        <p:spPr>
          <a:xfrm>
            <a:off x="1600200" y="28620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Widok się dopasowuje</a:t>
            </a:r>
            <a:endParaRPr lang="en-US" sz="2200" dirty="0"/>
          </a:p>
        </p:txBody>
      </p:sp>
      <p:sp>
        <p:nvSpPr>
          <p:cNvPr id="11" name="krok2-opis"/>
          <p:cNvSpPr txBox="1"/>
          <p:nvPr/>
        </p:nvSpPr>
        <p:spPr>
          <a:xfrm>
            <a:off x="1600200" y="3291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Inny opis, główny przycisk i działania przy każdej innowacji</a:t>
            </a:r>
            <a:endParaRPr lang="en-US" sz="1600" dirty="0"/>
          </a:p>
        </p:txBody>
      </p:sp>
      <p:sp>
        <p:nvSpPr>
          <p:cNvPr id="12" name="krok3-kolo"/>
          <p:cNvSpPr/>
          <p:nvPr/>
        </p:nvSpPr>
        <p:spPr>
          <a:xfrm>
            <a:off x="548640" y="420624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krok3-ikon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389120"/>
            <a:ext cx="411480" cy="411480"/>
          </a:xfrm>
          <a:prstGeom prst="rect">
            <a:avLst/>
          </a:prstGeom>
        </p:spPr>
      </p:pic>
      <p:sp>
        <p:nvSpPr>
          <p:cNvPr id="14" name="krok3-tytul"/>
          <p:cNvSpPr txBox="1"/>
          <p:nvPr/>
        </p:nvSpPr>
        <p:spPr>
          <a:xfrm>
            <a:off x="1600200" y="41879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Po wdrożeniu: logowanie</a:t>
            </a:r>
            <a:endParaRPr lang="en-US" sz="2200" dirty="0"/>
          </a:p>
        </p:txBody>
      </p:sp>
      <p:sp>
        <p:nvSpPr>
          <p:cNvPr id="15" name="krok3-opis"/>
          <p:cNvSpPr txBox="1"/>
          <p:nvPr/>
        </p:nvSpPr>
        <p:spPr>
          <a:xfrm>
            <a:off x="1600200" y="4617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Rolę i uprawnienia ustali konto użytkownika</a:t>
            </a:r>
            <a:endParaRPr lang="en-US" sz="1600" dirty="0"/>
          </a:p>
        </p:txBody>
      </p:sp>
      <p:sp>
        <p:nvSpPr>
          <p:cNvPr id="16" name="haslo"/>
          <p:cNvSpPr txBox="1"/>
          <p:nvPr/>
        </p:nvSpPr>
        <p:spPr>
          <a:xfrm>
            <a:off x="548640" y="57150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Jedna platforma, pięć ścieżek — nie wymyślaj koła na nowo</a:t>
            </a:r>
            <a:endParaRPr lang="en-US" sz="1800" dirty="0"/>
          </a:p>
        </p:txBody>
      </p:sp>
      <p:sp>
        <p:nvSpPr>
          <p:cNvPr id="26" name="Numer slajdu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1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70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300"/>
                            </p:stCondLst>
                            <p:childTnLst>
                              <p:par>
                                <p:cTn id="7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1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3" grpId="0" animBg="1"/>
      <p:bldP spid="16" grpId="0" animBg="1"/>
    </p:bldLst>
  </p:timing>
</p:sld>
</file>

<file path=ppt/theme/theme1.xml><?xml version="1.0" encoding="utf-8"?>
<a:theme xmlns:a="http://schemas.openxmlformats.org/drawingml/2006/main" name="Podaj Dalej">
  <a:themeElements>
    <a:clrScheme name="Podaj Dalej">
      <a:dk1>
        <a:srgbClr val="0F1416"/>
      </a:dk1>
      <a:lt1>
        <a:srgbClr val="FFFFFF"/>
      </a:lt1>
      <a:dk2>
        <a:srgbClr val="072A20"/>
      </a:dk2>
      <a:lt2>
        <a:srgbClr val="F1F3F3"/>
      </a:lt2>
      <a:accent1>
        <a:srgbClr val="007A55"/>
      </a:accent1>
      <a:accent2>
        <a:srgbClr val="34D399"/>
      </a:accent2>
      <a:accent3>
        <a:srgbClr val="F59E0B"/>
      </a:accent3>
      <a:accent4>
        <a:srgbClr val="5E6C72"/>
      </a:accent4>
      <a:accent5>
        <a:srgbClr val="D1FAE5"/>
      </a:accent5>
      <a:accent6>
        <a:srgbClr val="C9D8D2"/>
      </a:accent6>
      <a:hlink>
        <a:srgbClr val="007A55"/>
      </a:hlink>
      <a:folHlink>
        <a:srgbClr val="006045"/>
      </a:folHlink>
    </a:clrScheme>
    <a:fontScheme name="Podaj Dalej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Podaj Dalej — role w aplikacji</dc:title>
  <dc:subject>PptxGenJS Presentation</dc:subject>
  <dc:creator>Zespół Podaj Dalej</dc:creator>
  <cp:lastModifiedBy>Zespół Podaj Dalej</cp:lastModifiedBy>
  <cp:revision>1</cp:revision>
  <dcterms:created xsi:type="dcterms:W3CDTF">2026-10-04T00:21:15Z</dcterms:created>
  <dcterms:modified xsi:type="dcterms:W3CDTF">2026-10-04T00:21:15Z</dcterms:modified>
</cp:coreProperties>
</file>